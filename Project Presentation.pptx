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8" r:id="rId14"/>
    <p:sldId id="273" r:id="rId15"/>
    <p:sldId id="274" r:id="rId16"/>
    <p:sldId id="275" r:id="rId17"/>
    <p:sldId id="270"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13" d="100"/>
          <a:sy n="113" d="100"/>
        </p:scale>
        <p:origin x="5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notesSlide" Target="../notesSlides/notesSlide5.xml"/><Relationship Id="rId26" Type="http://schemas.openxmlformats.org/officeDocument/2006/relationships/slideLayout" Target="../slideLayouts/slideLayout1.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2" Type="http://schemas.openxmlformats.org/officeDocument/2006/relationships/notesSlide" Target="../notesSlides/notesSlide6.xml"/><Relationship Id="rId31" Type="http://schemas.openxmlformats.org/officeDocument/2006/relationships/slideLayout" Target="../slideLayouts/slideLayout1.xml"/><Relationship Id="rId30" Type="http://schemas.openxmlformats.org/officeDocument/2006/relationships/tags" Target="../tags/tag55.xml"/><Relationship Id="rId3" Type="http://schemas.openxmlformats.org/officeDocument/2006/relationships/tags" Target="../tags/tag28.xml"/><Relationship Id="rId29" Type="http://schemas.openxmlformats.org/officeDocument/2006/relationships/tags" Target="../tags/tag54.xml"/><Relationship Id="rId28" Type="http://schemas.openxmlformats.org/officeDocument/2006/relationships/tags" Target="../tags/tag53.xml"/><Relationship Id="rId27" Type="http://schemas.openxmlformats.org/officeDocument/2006/relationships/tags" Target="../tags/tag52.xml"/><Relationship Id="rId26" Type="http://schemas.openxmlformats.org/officeDocument/2006/relationships/tags" Target="../tags/tag51.xml"/><Relationship Id="rId25" Type="http://schemas.openxmlformats.org/officeDocument/2006/relationships/tags" Target="../tags/tag50.xml"/><Relationship Id="rId24" Type="http://schemas.openxmlformats.org/officeDocument/2006/relationships/tags" Target="../tags/tag49.xml"/><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4" Type="http://schemas.openxmlformats.org/officeDocument/2006/relationships/notesSlide" Target="../notesSlides/notesSlide11.xml"/><Relationship Id="rId13" Type="http://schemas.openxmlformats.org/officeDocument/2006/relationships/slideLayout" Target="../slideLayouts/slideLayout1.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112233"/>
          </a:solidFill>
          <a:ln w="12700">
            <a:solidFill>
              <a:srgbClr val="112233"/>
            </a:solidFill>
            <a:prstDash val="solid"/>
          </a:ln>
        </p:spPr>
      </p:sp>
      <p:sp>
        <p:nvSpPr>
          <p:cNvPr id="3" name="Shape 1"/>
          <p:cNvSpPr/>
          <p:nvPr/>
        </p:nvSpPr>
        <p:spPr>
          <a:xfrm>
            <a:off x="5669280" y="0"/>
            <a:ext cx="0" cy="5143500"/>
          </a:xfrm>
          <a:prstGeom prst="line">
            <a:avLst/>
          </a:prstGeom>
          <a:noFill/>
          <a:ln w="6350">
            <a:solidFill>
              <a:srgbClr val="1E3A5F"/>
            </a:solidFill>
            <a:prstDash val="solid"/>
          </a:ln>
        </p:spPr>
      </p:sp>
      <p:sp>
        <p:nvSpPr>
          <p:cNvPr id="4" name="Shape 2"/>
          <p:cNvSpPr/>
          <p:nvPr/>
        </p:nvSpPr>
        <p:spPr>
          <a:xfrm>
            <a:off x="6053328" y="0"/>
            <a:ext cx="0" cy="5143500"/>
          </a:xfrm>
          <a:prstGeom prst="line">
            <a:avLst/>
          </a:prstGeom>
          <a:noFill/>
          <a:ln w="6350">
            <a:solidFill>
              <a:srgbClr val="1E3A5F"/>
            </a:solidFill>
            <a:prstDash val="solid"/>
          </a:ln>
        </p:spPr>
      </p:sp>
      <p:sp>
        <p:nvSpPr>
          <p:cNvPr id="5" name="Shape 3"/>
          <p:cNvSpPr/>
          <p:nvPr/>
        </p:nvSpPr>
        <p:spPr>
          <a:xfrm>
            <a:off x="6437376" y="0"/>
            <a:ext cx="0" cy="5143500"/>
          </a:xfrm>
          <a:prstGeom prst="line">
            <a:avLst/>
          </a:prstGeom>
          <a:noFill/>
          <a:ln w="6350">
            <a:solidFill>
              <a:srgbClr val="1E3A5F"/>
            </a:solidFill>
            <a:prstDash val="solid"/>
          </a:ln>
        </p:spPr>
      </p:sp>
      <p:sp>
        <p:nvSpPr>
          <p:cNvPr id="6" name="Shape 4"/>
          <p:cNvSpPr/>
          <p:nvPr/>
        </p:nvSpPr>
        <p:spPr>
          <a:xfrm>
            <a:off x="6821424" y="0"/>
            <a:ext cx="0" cy="5143500"/>
          </a:xfrm>
          <a:prstGeom prst="line">
            <a:avLst/>
          </a:prstGeom>
          <a:noFill/>
          <a:ln w="6350">
            <a:solidFill>
              <a:srgbClr val="1E3A5F"/>
            </a:solidFill>
            <a:prstDash val="solid"/>
          </a:ln>
        </p:spPr>
      </p:sp>
      <p:sp>
        <p:nvSpPr>
          <p:cNvPr id="7" name="Shape 5"/>
          <p:cNvSpPr/>
          <p:nvPr/>
        </p:nvSpPr>
        <p:spPr>
          <a:xfrm>
            <a:off x="7205472" y="0"/>
            <a:ext cx="0" cy="5143500"/>
          </a:xfrm>
          <a:prstGeom prst="line">
            <a:avLst/>
          </a:prstGeom>
          <a:noFill/>
          <a:ln w="6350">
            <a:solidFill>
              <a:srgbClr val="1E3A5F"/>
            </a:solidFill>
            <a:prstDash val="solid"/>
          </a:ln>
        </p:spPr>
      </p:sp>
      <p:sp>
        <p:nvSpPr>
          <p:cNvPr id="8" name="Shape 6"/>
          <p:cNvSpPr/>
          <p:nvPr/>
        </p:nvSpPr>
        <p:spPr>
          <a:xfrm>
            <a:off x="7589520" y="0"/>
            <a:ext cx="0" cy="5143500"/>
          </a:xfrm>
          <a:prstGeom prst="line">
            <a:avLst/>
          </a:prstGeom>
          <a:noFill/>
          <a:ln w="6350">
            <a:solidFill>
              <a:srgbClr val="1E3A5F"/>
            </a:solidFill>
            <a:prstDash val="solid"/>
          </a:ln>
        </p:spPr>
      </p:sp>
      <p:sp>
        <p:nvSpPr>
          <p:cNvPr id="9" name="Shape 7"/>
          <p:cNvSpPr/>
          <p:nvPr/>
        </p:nvSpPr>
        <p:spPr>
          <a:xfrm>
            <a:off x="7973568" y="0"/>
            <a:ext cx="0" cy="5143500"/>
          </a:xfrm>
          <a:prstGeom prst="line">
            <a:avLst/>
          </a:prstGeom>
          <a:noFill/>
          <a:ln w="6350">
            <a:solidFill>
              <a:srgbClr val="1E3A5F"/>
            </a:solidFill>
            <a:prstDash val="solid"/>
          </a:ln>
        </p:spPr>
      </p:sp>
      <p:sp>
        <p:nvSpPr>
          <p:cNvPr id="10" name="Shape 8"/>
          <p:cNvSpPr/>
          <p:nvPr/>
        </p:nvSpPr>
        <p:spPr>
          <a:xfrm>
            <a:off x="8357616" y="0"/>
            <a:ext cx="0" cy="5143500"/>
          </a:xfrm>
          <a:prstGeom prst="line">
            <a:avLst/>
          </a:prstGeom>
          <a:noFill/>
          <a:ln w="6350">
            <a:solidFill>
              <a:srgbClr val="1E3A5F"/>
            </a:solidFill>
            <a:prstDash val="solid"/>
          </a:ln>
        </p:spPr>
      </p:sp>
      <p:sp>
        <p:nvSpPr>
          <p:cNvPr id="11" name="Shape 9"/>
          <p:cNvSpPr/>
          <p:nvPr/>
        </p:nvSpPr>
        <p:spPr>
          <a:xfrm>
            <a:off x="8741664" y="0"/>
            <a:ext cx="0" cy="5143500"/>
          </a:xfrm>
          <a:prstGeom prst="line">
            <a:avLst/>
          </a:prstGeom>
          <a:noFill/>
          <a:ln w="6350">
            <a:solidFill>
              <a:srgbClr val="1E3A5F"/>
            </a:solidFill>
            <a:prstDash val="solid"/>
          </a:ln>
        </p:spPr>
      </p:sp>
      <p:sp>
        <p:nvSpPr>
          <p:cNvPr id="12" name="Shape 10"/>
          <p:cNvSpPr/>
          <p:nvPr/>
        </p:nvSpPr>
        <p:spPr>
          <a:xfrm>
            <a:off x="5669280" y="0"/>
            <a:ext cx="3474720" cy="0"/>
          </a:xfrm>
          <a:prstGeom prst="line">
            <a:avLst/>
          </a:prstGeom>
          <a:noFill/>
          <a:ln w="6350">
            <a:solidFill>
              <a:srgbClr val="1E3A5F"/>
            </a:solidFill>
            <a:prstDash val="solid"/>
          </a:ln>
        </p:spPr>
      </p:sp>
      <p:sp>
        <p:nvSpPr>
          <p:cNvPr id="13" name="Shape 11"/>
          <p:cNvSpPr/>
          <p:nvPr/>
        </p:nvSpPr>
        <p:spPr>
          <a:xfrm>
            <a:off x="5669280" y="420624"/>
            <a:ext cx="3474720" cy="0"/>
          </a:xfrm>
          <a:prstGeom prst="line">
            <a:avLst/>
          </a:prstGeom>
          <a:noFill/>
          <a:ln w="6350">
            <a:solidFill>
              <a:srgbClr val="1E3A5F"/>
            </a:solidFill>
            <a:prstDash val="solid"/>
          </a:ln>
        </p:spPr>
      </p:sp>
      <p:sp>
        <p:nvSpPr>
          <p:cNvPr id="14" name="Shape 12"/>
          <p:cNvSpPr/>
          <p:nvPr/>
        </p:nvSpPr>
        <p:spPr>
          <a:xfrm>
            <a:off x="5669280" y="841248"/>
            <a:ext cx="3474720" cy="0"/>
          </a:xfrm>
          <a:prstGeom prst="line">
            <a:avLst/>
          </a:prstGeom>
          <a:noFill/>
          <a:ln w="6350">
            <a:solidFill>
              <a:srgbClr val="1E3A5F"/>
            </a:solidFill>
            <a:prstDash val="solid"/>
          </a:ln>
        </p:spPr>
      </p:sp>
      <p:sp>
        <p:nvSpPr>
          <p:cNvPr id="15" name="Shape 13"/>
          <p:cNvSpPr/>
          <p:nvPr/>
        </p:nvSpPr>
        <p:spPr>
          <a:xfrm>
            <a:off x="5669280" y="1261872"/>
            <a:ext cx="3474720" cy="0"/>
          </a:xfrm>
          <a:prstGeom prst="line">
            <a:avLst/>
          </a:prstGeom>
          <a:noFill/>
          <a:ln w="6350">
            <a:solidFill>
              <a:srgbClr val="1E3A5F"/>
            </a:solidFill>
            <a:prstDash val="solid"/>
          </a:ln>
        </p:spPr>
      </p:sp>
      <p:sp>
        <p:nvSpPr>
          <p:cNvPr id="16" name="Shape 14"/>
          <p:cNvSpPr/>
          <p:nvPr/>
        </p:nvSpPr>
        <p:spPr>
          <a:xfrm>
            <a:off x="5669280" y="1682496"/>
            <a:ext cx="3474720" cy="0"/>
          </a:xfrm>
          <a:prstGeom prst="line">
            <a:avLst/>
          </a:prstGeom>
          <a:noFill/>
          <a:ln w="6350">
            <a:solidFill>
              <a:srgbClr val="1E3A5F"/>
            </a:solidFill>
            <a:prstDash val="solid"/>
          </a:ln>
        </p:spPr>
      </p:sp>
      <p:sp>
        <p:nvSpPr>
          <p:cNvPr id="17" name="Shape 15"/>
          <p:cNvSpPr/>
          <p:nvPr/>
        </p:nvSpPr>
        <p:spPr>
          <a:xfrm>
            <a:off x="5669280" y="2103120"/>
            <a:ext cx="3474720" cy="0"/>
          </a:xfrm>
          <a:prstGeom prst="line">
            <a:avLst/>
          </a:prstGeom>
          <a:noFill/>
          <a:ln w="6350">
            <a:solidFill>
              <a:srgbClr val="1E3A5F"/>
            </a:solidFill>
            <a:prstDash val="solid"/>
          </a:ln>
        </p:spPr>
      </p:sp>
      <p:sp>
        <p:nvSpPr>
          <p:cNvPr id="18" name="Shape 16"/>
          <p:cNvSpPr/>
          <p:nvPr/>
        </p:nvSpPr>
        <p:spPr>
          <a:xfrm>
            <a:off x="5669280" y="2523744"/>
            <a:ext cx="3474720" cy="0"/>
          </a:xfrm>
          <a:prstGeom prst="line">
            <a:avLst/>
          </a:prstGeom>
          <a:noFill/>
          <a:ln w="6350">
            <a:solidFill>
              <a:srgbClr val="1E3A5F"/>
            </a:solidFill>
            <a:prstDash val="solid"/>
          </a:ln>
        </p:spPr>
      </p:sp>
      <p:sp>
        <p:nvSpPr>
          <p:cNvPr id="19" name="Shape 17"/>
          <p:cNvSpPr/>
          <p:nvPr/>
        </p:nvSpPr>
        <p:spPr>
          <a:xfrm>
            <a:off x="5669280" y="2944368"/>
            <a:ext cx="3474720" cy="0"/>
          </a:xfrm>
          <a:prstGeom prst="line">
            <a:avLst/>
          </a:prstGeom>
          <a:noFill/>
          <a:ln w="6350">
            <a:solidFill>
              <a:srgbClr val="1E3A5F"/>
            </a:solidFill>
            <a:prstDash val="solid"/>
          </a:ln>
        </p:spPr>
      </p:sp>
      <p:sp>
        <p:nvSpPr>
          <p:cNvPr id="20" name="Shape 18"/>
          <p:cNvSpPr/>
          <p:nvPr/>
        </p:nvSpPr>
        <p:spPr>
          <a:xfrm>
            <a:off x="5669280" y="3364992"/>
            <a:ext cx="3474720" cy="0"/>
          </a:xfrm>
          <a:prstGeom prst="line">
            <a:avLst/>
          </a:prstGeom>
          <a:noFill/>
          <a:ln w="6350">
            <a:solidFill>
              <a:srgbClr val="1E3A5F"/>
            </a:solidFill>
            <a:prstDash val="solid"/>
          </a:ln>
        </p:spPr>
      </p:sp>
      <p:sp>
        <p:nvSpPr>
          <p:cNvPr id="21" name="Shape 19"/>
          <p:cNvSpPr/>
          <p:nvPr/>
        </p:nvSpPr>
        <p:spPr>
          <a:xfrm>
            <a:off x="5669280" y="3785616"/>
            <a:ext cx="3474720" cy="0"/>
          </a:xfrm>
          <a:prstGeom prst="line">
            <a:avLst/>
          </a:prstGeom>
          <a:noFill/>
          <a:ln w="6350">
            <a:solidFill>
              <a:srgbClr val="1E3A5F"/>
            </a:solidFill>
            <a:prstDash val="solid"/>
          </a:ln>
        </p:spPr>
      </p:sp>
      <p:sp>
        <p:nvSpPr>
          <p:cNvPr id="22" name="Shape 20"/>
          <p:cNvSpPr/>
          <p:nvPr/>
        </p:nvSpPr>
        <p:spPr>
          <a:xfrm>
            <a:off x="5669280" y="4206240"/>
            <a:ext cx="3474720" cy="0"/>
          </a:xfrm>
          <a:prstGeom prst="line">
            <a:avLst/>
          </a:prstGeom>
          <a:noFill/>
          <a:ln w="6350">
            <a:solidFill>
              <a:srgbClr val="1E3A5F"/>
            </a:solidFill>
            <a:prstDash val="solid"/>
          </a:ln>
        </p:spPr>
      </p:sp>
      <p:sp>
        <p:nvSpPr>
          <p:cNvPr id="23" name="Shape 21"/>
          <p:cNvSpPr/>
          <p:nvPr/>
        </p:nvSpPr>
        <p:spPr>
          <a:xfrm>
            <a:off x="5669280" y="4626864"/>
            <a:ext cx="3474720" cy="0"/>
          </a:xfrm>
          <a:prstGeom prst="line">
            <a:avLst/>
          </a:prstGeom>
          <a:noFill/>
          <a:ln w="6350">
            <a:solidFill>
              <a:srgbClr val="1E3A5F"/>
            </a:solidFill>
            <a:prstDash val="solid"/>
          </a:ln>
        </p:spPr>
      </p:sp>
      <p:sp>
        <p:nvSpPr>
          <p:cNvPr id="24" name="Shape 22"/>
          <p:cNvSpPr/>
          <p:nvPr/>
        </p:nvSpPr>
        <p:spPr>
          <a:xfrm>
            <a:off x="5669280" y="5047488"/>
            <a:ext cx="3474720" cy="0"/>
          </a:xfrm>
          <a:prstGeom prst="line">
            <a:avLst/>
          </a:prstGeom>
          <a:noFill/>
          <a:ln w="6350">
            <a:solidFill>
              <a:srgbClr val="1E3A5F"/>
            </a:solidFill>
            <a:prstDash val="solid"/>
          </a:ln>
        </p:spPr>
      </p:sp>
      <p:sp>
        <p:nvSpPr>
          <p:cNvPr id="25" name="Shape 23"/>
          <p:cNvSpPr/>
          <p:nvPr/>
        </p:nvSpPr>
        <p:spPr>
          <a:xfrm>
            <a:off x="6446520" y="685800"/>
            <a:ext cx="91440" cy="91440"/>
          </a:xfrm>
          <a:prstGeom prst="ellipse">
            <a:avLst/>
          </a:prstGeom>
          <a:solidFill>
            <a:srgbClr val="00C9A7"/>
          </a:solidFill>
          <a:ln w="12700">
            <a:solidFill>
              <a:srgbClr val="00C9A7"/>
            </a:solidFill>
            <a:prstDash val="solid"/>
          </a:ln>
        </p:spPr>
      </p:sp>
      <p:sp>
        <p:nvSpPr>
          <p:cNvPr id="26" name="Shape 24"/>
          <p:cNvSpPr/>
          <p:nvPr/>
        </p:nvSpPr>
        <p:spPr>
          <a:xfrm>
            <a:off x="7543800" y="1325880"/>
            <a:ext cx="91440" cy="91440"/>
          </a:xfrm>
          <a:prstGeom prst="ellipse">
            <a:avLst/>
          </a:prstGeom>
          <a:solidFill>
            <a:srgbClr val="00C9A7"/>
          </a:solidFill>
          <a:ln w="12700">
            <a:solidFill>
              <a:srgbClr val="00C9A7"/>
            </a:solidFill>
            <a:prstDash val="solid"/>
          </a:ln>
        </p:spPr>
      </p:sp>
      <p:sp>
        <p:nvSpPr>
          <p:cNvPr id="27" name="Shape 25"/>
          <p:cNvSpPr/>
          <p:nvPr/>
        </p:nvSpPr>
        <p:spPr>
          <a:xfrm>
            <a:off x="6903720" y="2331720"/>
            <a:ext cx="91440" cy="91440"/>
          </a:xfrm>
          <a:prstGeom prst="ellipse">
            <a:avLst/>
          </a:prstGeom>
          <a:solidFill>
            <a:srgbClr val="00C9A7"/>
          </a:solidFill>
          <a:ln w="12700">
            <a:solidFill>
              <a:srgbClr val="00C9A7"/>
            </a:solidFill>
            <a:prstDash val="solid"/>
          </a:ln>
        </p:spPr>
      </p:sp>
      <p:sp>
        <p:nvSpPr>
          <p:cNvPr id="28" name="Shape 26"/>
          <p:cNvSpPr/>
          <p:nvPr/>
        </p:nvSpPr>
        <p:spPr>
          <a:xfrm>
            <a:off x="8275320" y="960120"/>
            <a:ext cx="91440" cy="91440"/>
          </a:xfrm>
          <a:prstGeom prst="ellipse">
            <a:avLst/>
          </a:prstGeom>
          <a:solidFill>
            <a:srgbClr val="00C9A7"/>
          </a:solidFill>
          <a:ln w="12700">
            <a:solidFill>
              <a:srgbClr val="00C9A7"/>
            </a:solidFill>
            <a:prstDash val="solid"/>
          </a:ln>
        </p:spPr>
      </p:sp>
      <p:sp>
        <p:nvSpPr>
          <p:cNvPr id="29" name="Shape 27"/>
          <p:cNvSpPr/>
          <p:nvPr/>
        </p:nvSpPr>
        <p:spPr>
          <a:xfrm>
            <a:off x="7909560" y="2971800"/>
            <a:ext cx="91440" cy="91440"/>
          </a:xfrm>
          <a:prstGeom prst="ellipse">
            <a:avLst/>
          </a:prstGeom>
          <a:solidFill>
            <a:srgbClr val="00C9A7"/>
          </a:solidFill>
          <a:ln w="12700">
            <a:solidFill>
              <a:srgbClr val="00C9A7"/>
            </a:solidFill>
            <a:prstDash val="solid"/>
          </a:ln>
        </p:spPr>
      </p:sp>
      <p:sp>
        <p:nvSpPr>
          <p:cNvPr id="30" name="Shape 28"/>
          <p:cNvSpPr/>
          <p:nvPr/>
        </p:nvSpPr>
        <p:spPr>
          <a:xfrm>
            <a:off x="7178040" y="3703320"/>
            <a:ext cx="91440" cy="91440"/>
          </a:xfrm>
          <a:prstGeom prst="ellipse">
            <a:avLst/>
          </a:prstGeom>
          <a:solidFill>
            <a:srgbClr val="00C9A7"/>
          </a:solidFill>
          <a:ln w="12700">
            <a:solidFill>
              <a:srgbClr val="00C9A7"/>
            </a:solidFill>
            <a:prstDash val="solid"/>
          </a:ln>
        </p:spPr>
      </p:sp>
      <p:sp>
        <p:nvSpPr>
          <p:cNvPr id="31" name="Shape 29"/>
          <p:cNvSpPr/>
          <p:nvPr/>
        </p:nvSpPr>
        <p:spPr>
          <a:xfrm>
            <a:off x="8458200" y="1965960"/>
            <a:ext cx="91440" cy="91440"/>
          </a:xfrm>
          <a:prstGeom prst="ellipse">
            <a:avLst/>
          </a:prstGeom>
          <a:solidFill>
            <a:srgbClr val="00C9A7"/>
          </a:solidFill>
          <a:ln w="12700">
            <a:solidFill>
              <a:srgbClr val="00C9A7"/>
            </a:solidFill>
            <a:prstDash val="solid"/>
          </a:ln>
        </p:spPr>
      </p:sp>
      <p:sp>
        <p:nvSpPr>
          <p:cNvPr id="32" name="Shape 30"/>
          <p:cNvSpPr/>
          <p:nvPr/>
        </p:nvSpPr>
        <p:spPr>
          <a:xfrm>
            <a:off x="6629400" y="3429000"/>
            <a:ext cx="91440" cy="91440"/>
          </a:xfrm>
          <a:prstGeom prst="ellipse">
            <a:avLst/>
          </a:prstGeom>
          <a:solidFill>
            <a:srgbClr val="00C9A7"/>
          </a:solidFill>
          <a:ln w="12700">
            <a:solidFill>
              <a:srgbClr val="00C9A7"/>
            </a:solidFill>
            <a:prstDash val="solid"/>
          </a:ln>
        </p:spPr>
      </p:sp>
      <p:sp>
        <p:nvSpPr>
          <p:cNvPr id="33" name="Shape 31"/>
          <p:cNvSpPr/>
          <p:nvPr/>
        </p:nvSpPr>
        <p:spPr>
          <a:xfrm>
            <a:off x="0" y="0"/>
            <a:ext cx="64008" cy="5143500"/>
          </a:xfrm>
          <a:prstGeom prst="rect">
            <a:avLst/>
          </a:prstGeom>
          <a:solidFill>
            <a:srgbClr val="1E90FF"/>
          </a:solidFill>
          <a:ln w="12700">
            <a:solidFill>
              <a:srgbClr val="1E90FF"/>
            </a:solidFill>
            <a:prstDash val="solid"/>
          </a:ln>
        </p:spPr>
      </p:sp>
      <p:sp>
        <p:nvSpPr>
          <p:cNvPr id="34" name="Shape 32"/>
          <p:cNvSpPr/>
          <p:nvPr/>
        </p:nvSpPr>
        <p:spPr>
          <a:xfrm>
            <a:off x="201168" y="256032"/>
            <a:ext cx="1280160" cy="274320"/>
          </a:xfrm>
          <a:prstGeom prst="rect">
            <a:avLst/>
          </a:prstGeom>
          <a:solidFill>
            <a:srgbClr val="1E90FF"/>
          </a:solidFill>
          <a:ln w="12700">
            <a:solidFill>
              <a:srgbClr val="1E90FF"/>
            </a:solidFill>
            <a:prstDash val="solid"/>
          </a:ln>
        </p:spPr>
      </p:sp>
      <p:sp>
        <p:nvSpPr>
          <p:cNvPr id="35" name="Text 33"/>
          <p:cNvSpPr/>
          <p:nvPr/>
        </p:nvSpPr>
        <p:spPr>
          <a:xfrm>
            <a:off x="201168" y="256032"/>
            <a:ext cx="1280160" cy="274320"/>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PYSPARK</a:t>
            </a:r>
            <a:endParaRPr lang="en-US" sz="900" dirty="0"/>
          </a:p>
        </p:txBody>
      </p:sp>
      <p:sp>
        <p:nvSpPr>
          <p:cNvPr id="36" name="Shape 34"/>
          <p:cNvSpPr/>
          <p:nvPr/>
        </p:nvSpPr>
        <p:spPr>
          <a:xfrm>
            <a:off x="1572768" y="228939"/>
            <a:ext cx="1554480" cy="274320"/>
          </a:xfrm>
          <a:prstGeom prst="rect">
            <a:avLst/>
          </a:prstGeom>
          <a:solidFill>
            <a:srgbClr val="00C9A7"/>
          </a:solidFill>
          <a:ln w="12700">
            <a:solidFill>
              <a:srgbClr val="00C9A7"/>
            </a:solidFill>
            <a:prstDash val="solid"/>
          </a:ln>
        </p:spPr>
      </p:sp>
      <p:sp>
        <p:nvSpPr>
          <p:cNvPr id="37" name="Text 35"/>
          <p:cNvSpPr/>
          <p:nvPr/>
        </p:nvSpPr>
        <p:spPr>
          <a:xfrm>
            <a:off x="1572768" y="256032"/>
            <a:ext cx="1554480" cy="274320"/>
          </a:xfrm>
          <a:prstGeom prst="rect">
            <a:avLst/>
          </a:prstGeom>
          <a:noFill/>
        </p:spPr>
        <p:txBody>
          <a:bodyPr wrap="square" lIns="0" tIns="0" rIns="0" bIns="0" rtlCol="0" anchor="ctr"/>
          <a:lstStyle/>
          <a:p>
            <a:pPr marL="0" indent="0" algn="ctr">
              <a:buNone/>
            </a:pPr>
            <a:r>
              <a:rPr lang="en-US" sz="900" b="1" dirty="0">
                <a:solidFill>
                  <a:srgbClr val="061120"/>
                </a:solidFill>
                <a:latin typeface="Calibri" panose="020F0502020204030204" pitchFamily="34" charset="0"/>
                <a:ea typeface="Calibri" panose="020F0502020204030204" pitchFamily="34" charset="-122"/>
                <a:cs typeface="Calibri" panose="020F0502020204030204" pitchFamily="34" charset="-120"/>
              </a:rPr>
              <a:t>DATA ANALYSIS</a:t>
            </a:r>
            <a:endParaRPr lang="en-US" sz="900" dirty="0"/>
          </a:p>
        </p:txBody>
      </p:sp>
      <p:sp>
        <p:nvSpPr>
          <p:cNvPr id="38" name="Text 36"/>
          <p:cNvSpPr/>
          <p:nvPr/>
        </p:nvSpPr>
        <p:spPr>
          <a:xfrm>
            <a:off x="201168" y="658368"/>
            <a:ext cx="5303520" cy="658368"/>
          </a:xfrm>
          <a:prstGeom prst="rect">
            <a:avLst/>
          </a:prstGeom>
          <a:noFill/>
        </p:spPr>
        <p:txBody>
          <a:bodyPr wrap="square" rtlCol="0" anchor="ctr"/>
          <a:lstStyle/>
          <a:p>
            <a:pPr marL="0" indent="0">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Pakistan Energy Access</a:t>
            </a:r>
            <a:endParaRPr lang="en-US" sz="3600" dirty="0"/>
          </a:p>
        </p:txBody>
      </p:sp>
      <p:sp>
        <p:nvSpPr>
          <p:cNvPr id="39" name="Text 37"/>
          <p:cNvSpPr/>
          <p:nvPr/>
        </p:nvSpPr>
        <p:spPr>
          <a:xfrm>
            <a:off x="201168" y="1261872"/>
            <a:ext cx="5303520" cy="658368"/>
          </a:xfrm>
          <a:prstGeom prst="rect">
            <a:avLst/>
          </a:prstGeom>
          <a:noFill/>
        </p:spPr>
        <p:txBody>
          <a:bodyPr wrap="square" rtlCol="0" anchor="ctr"/>
          <a:lstStyle/>
          <a:p>
            <a:pPr marL="0" indent="0">
              <a:buNone/>
            </a:pPr>
            <a:r>
              <a:rPr lang="en-US" sz="3600" b="1" dirty="0">
                <a:solidFill>
                  <a:srgbClr val="1E90FF"/>
                </a:solidFill>
                <a:latin typeface="Calibri" panose="020F0502020204030204" pitchFamily="34" charset="0"/>
                <a:ea typeface="Calibri" panose="020F0502020204030204" pitchFamily="34" charset="-122"/>
                <a:cs typeface="Calibri" panose="020F0502020204030204" pitchFamily="34" charset="-120"/>
              </a:rPr>
              <a:t>Household Panel Survey</a:t>
            </a:r>
            <a:endParaRPr lang="en-US" sz="3600" dirty="0"/>
          </a:p>
        </p:txBody>
      </p:sp>
      <p:sp>
        <p:nvSpPr>
          <p:cNvPr id="40" name="Text 38"/>
          <p:cNvSpPr/>
          <p:nvPr/>
        </p:nvSpPr>
        <p:spPr>
          <a:xfrm>
            <a:off x="201168" y="1874520"/>
            <a:ext cx="5303520" cy="502920"/>
          </a:xfrm>
          <a:prstGeom prst="rect">
            <a:avLst/>
          </a:prstGeom>
          <a:noFill/>
        </p:spPr>
        <p:txBody>
          <a:bodyPr wrap="square" rtlCol="0" anchor="ctr"/>
          <a:lstStyle/>
          <a:p>
            <a:pPr marL="0" indent="0">
              <a:buNone/>
            </a:pPr>
            <a:r>
              <a:rPr lang="en-US" sz="2200" i="1" dirty="0">
                <a:solidFill>
                  <a:srgbClr val="00C9A7"/>
                </a:solidFill>
                <a:latin typeface="Calibri" panose="020F0502020204030204" pitchFamily="34" charset="0"/>
                <a:ea typeface="Calibri" panose="020F0502020204030204" pitchFamily="34" charset="-122"/>
                <a:cs typeface="Calibri" panose="020F0502020204030204" pitchFamily="34" charset="-120"/>
              </a:rPr>
              <a:t>Analysis using PySpark</a:t>
            </a:r>
            <a:endParaRPr lang="en-US" sz="2200" dirty="0"/>
          </a:p>
        </p:txBody>
      </p:sp>
      <p:sp>
        <p:nvSpPr>
          <p:cNvPr id="41" name="Text 39"/>
          <p:cNvSpPr/>
          <p:nvPr/>
        </p:nvSpPr>
        <p:spPr>
          <a:xfrm>
            <a:off x="201168" y="2487168"/>
            <a:ext cx="5303520" cy="292608"/>
          </a:xfrm>
          <a:prstGeom prst="rect">
            <a:avLst/>
          </a:prstGeom>
          <a:noFill/>
        </p:spPr>
        <p:txBody>
          <a:bodyPr wrap="square" rtlCol="0" anchor="ctr"/>
          <a:lstStyle/>
          <a:p>
            <a:pPr marL="0" indent="0">
              <a:buNone/>
            </a:pPr>
            <a:r>
              <a:rPr lang="en-US" sz="1100" dirty="0">
                <a:solidFill>
                  <a:srgbClr val="8FA8C8"/>
                </a:solidFill>
                <a:latin typeface="Calibri" panose="020F0502020204030204" pitchFamily="34" charset="0"/>
                <a:ea typeface="Calibri" panose="020F0502020204030204" pitchFamily="34" charset="-122"/>
                <a:cs typeface="Calibri" panose="020F0502020204030204" pitchFamily="34" charset="-120"/>
              </a:rPr>
              <a:t>ETL Pipeline  ·  Spark SQL Validation  ·  Performance Benchmarking  ·  Visual Analytics</a:t>
            </a:r>
            <a:endParaRPr lang="en-US" sz="1100" dirty="0"/>
          </a:p>
        </p:txBody>
      </p:sp>
      <p:sp>
        <p:nvSpPr>
          <p:cNvPr id="42" name="Shape 40"/>
          <p:cNvSpPr/>
          <p:nvPr/>
        </p:nvSpPr>
        <p:spPr>
          <a:xfrm>
            <a:off x="201168" y="2926080"/>
            <a:ext cx="1691640" cy="713232"/>
          </a:xfrm>
          <a:prstGeom prst="rect">
            <a:avLst/>
          </a:prstGeom>
          <a:solidFill>
            <a:srgbClr val="112233"/>
          </a:solidFill>
          <a:ln w="12700">
            <a:solidFill>
              <a:srgbClr val="1E90FF"/>
            </a:solidFill>
            <a:prstDash val="solid"/>
          </a:ln>
        </p:spPr>
      </p:sp>
      <p:sp>
        <p:nvSpPr>
          <p:cNvPr id="43" name="Text 41"/>
          <p:cNvSpPr/>
          <p:nvPr/>
        </p:nvSpPr>
        <p:spPr>
          <a:xfrm>
            <a:off x="201168" y="2962656"/>
            <a:ext cx="1691640" cy="256032"/>
          </a:xfrm>
          <a:prstGeom prst="rect">
            <a:avLst/>
          </a:prstGeom>
          <a:noFill/>
        </p:spPr>
        <p:txBody>
          <a:bodyPr wrap="square" rtlCol="0" anchor="ctr"/>
          <a:lstStyle/>
          <a:p>
            <a:pPr marL="0" indent="0" algn="ctr">
              <a:buNone/>
            </a:pPr>
            <a:r>
              <a:rPr lang="en-US" sz="850" b="1" dirty="0">
                <a:solidFill>
                  <a:srgbClr val="00C9A7"/>
                </a:solidFill>
                <a:latin typeface="Calibri" panose="020F0502020204030204" pitchFamily="34" charset="0"/>
                <a:ea typeface="Calibri" panose="020F0502020204030204" pitchFamily="34" charset="-122"/>
                <a:cs typeface="Calibri" panose="020F0502020204030204" pitchFamily="34" charset="-120"/>
              </a:rPr>
              <a:t>Student Name</a:t>
            </a:r>
            <a:endParaRPr lang="en-US" sz="850" dirty="0"/>
          </a:p>
        </p:txBody>
      </p:sp>
      <p:sp>
        <p:nvSpPr>
          <p:cNvPr id="44" name="Text 42"/>
          <p:cNvSpPr/>
          <p:nvPr/>
        </p:nvSpPr>
        <p:spPr>
          <a:xfrm>
            <a:off x="201168" y="3200400"/>
            <a:ext cx="1691640" cy="402336"/>
          </a:xfrm>
          <a:prstGeom prst="rect">
            <a:avLst/>
          </a:prstGeom>
          <a:noFill/>
        </p:spPr>
        <p:txBody>
          <a:bodyPr wrap="square" rtlCol="0" anchor="ctr"/>
          <a:lstStyle/>
          <a:p>
            <a:pPr algn="ctr"/>
            <a:r>
              <a:rPr lang="en-US" sz="1000" dirty="0" err="1">
                <a:solidFill>
                  <a:srgbClr val="FFFFFF"/>
                </a:solidFill>
              </a:rPr>
              <a:t>Insa</a:t>
            </a:r>
            <a:r>
              <a:rPr lang="en-US" sz="1000" dirty="0">
                <a:solidFill>
                  <a:srgbClr val="FFFFFF"/>
                </a:solidFill>
              </a:rPr>
              <a:t> Saleem (043)</a:t>
            </a:r>
            <a:endParaRPr lang="en-US" sz="1000" dirty="0"/>
          </a:p>
          <a:p>
            <a:pPr algn="ctr"/>
            <a:r>
              <a:rPr lang="en-US" sz="1000" dirty="0">
                <a:solidFill>
                  <a:srgbClr val="FFFFFF"/>
                </a:solidFill>
              </a:rPr>
              <a:t>Isra Asif (045)</a:t>
            </a:r>
            <a:endParaRPr lang="en-US" sz="1000" dirty="0"/>
          </a:p>
          <a:p>
            <a:pPr algn="ctr"/>
            <a:r>
              <a:rPr lang="en-US" sz="1000" dirty="0">
                <a:solidFill>
                  <a:srgbClr val="FFFFFF"/>
                </a:solidFill>
              </a:rPr>
              <a:t>Maria Yasmeen (059)</a:t>
            </a:r>
            <a:endParaRPr lang="en-US" sz="1000" dirty="0"/>
          </a:p>
        </p:txBody>
      </p:sp>
      <p:sp>
        <p:nvSpPr>
          <p:cNvPr id="45" name="Shape 43"/>
          <p:cNvSpPr/>
          <p:nvPr/>
        </p:nvSpPr>
        <p:spPr>
          <a:xfrm>
            <a:off x="2029968" y="2926080"/>
            <a:ext cx="1691640" cy="713232"/>
          </a:xfrm>
          <a:prstGeom prst="rect">
            <a:avLst/>
          </a:prstGeom>
          <a:solidFill>
            <a:srgbClr val="112233"/>
          </a:solidFill>
          <a:ln w="12700">
            <a:solidFill>
              <a:srgbClr val="1E90FF"/>
            </a:solidFill>
            <a:prstDash val="solid"/>
          </a:ln>
        </p:spPr>
      </p:sp>
      <p:sp>
        <p:nvSpPr>
          <p:cNvPr id="46" name="Text 44"/>
          <p:cNvSpPr/>
          <p:nvPr/>
        </p:nvSpPr>
        <p:spPr>
          <a:xfrm>
            <a:off x="2029968" y="2962656"/>
            <a:ext cx="1691640" cy="256032"/>
          </a:xfrm>
          <a:prstGeom prst="rect">
            <a:avLst/>
          </a:prstGeom>
          <a:noFill/>
        </p:spPr>
        <p:txBody>
          <a:bodyPr wrap="square" rtlCol="0" anchor="ctr"/>
          <a:lstStyle/>
          <a:p>
            <a:pPr marL="0" indent="0" algn="ctr">
              <a:buNone/>
            </a:pPr>
            <a:r>
              <a:rPr lang="en-US" sz="850" b="1" dirty="0">
                <a:solidFill>
                  <a:srgbClr val="00C9A7"/>
                </a:solidFill>
                <a:latin typeface="Calibri" panose="020F0502020204030204" pitchFamily="34" charset="0"/>
                <a:ea typeface="Calibri" panose="020F0502020204030204" pitchFamily="34" charset="-122"/>
                <a:cs typeface="Calibri" panose="020F0502020204030204" pitchFamily="34" charset="-120"/>
              </a:rPr>
              <a:t>Course / Instructor</a:t>
            </a:r>
            <a:endParaRPr lang="en-US" sz="850" dirty="0"/>
          </a:p>
        </p:txBody>
      </p:sp>
      <p:sp>
        <p:nvSpPr>
          <p:cNvPr id="47" name="Text 45"/>
          <p:cNvSpPr/>
          <p:nvPr/>
        </p:nvSpPr>
        <p:spPr>
          <a:xfrm>
            <a:off x="2029968" y="3200400"/>
            <a:ext cx="1691640" cy="402336"/>
          </a:xfrm>
          <a:prstGeom prst="rect">
            <a:avLst/>
          </a:prstGeom>
          <a:noFill/>
        </p:spPr>
        <p:txBody>
          <a:bodyPr wrap="square" rtlCol="0" anchor="ctr"/>
          <a:lstStyle/>
          <a:p>
            <a:pPr algn="ctr"/>
            <a:r>
              <a:rPr lang="en-US" sz="1000" dirty="0">
                <a:solidFill>
                  <a:srgbClr val="FFFFFF"/>
                </a:solidFill>
              </a:rPr>
              <a:t>Ma’am </a:t>
            </a:r>
            <a:r>
              <a:rPr lang="en-US" sz="1000" dirty="0" err="1">
                <a:solidFill>
                  <a:srgbClr val="FFFFFF"/>
                </a:solidFill>
              </a:rPr>
              <a:t>Madiha</a:t>
            </a:r>
            <a:r>
              <a:rPr lang="en-US" sz="1000" dirty="0">
                <a:solidFill>
                  <a:srgbClr val="FFFFFF"/>
                </a:solidFill>
              </a:rPr>
              <a:t> Wahid</a:t>
            </a:r>
            <a:endParaRPr lang="en-US" sz="1000" dirty="0"/>
          </a:p>
        </p:txBody>
      </p:sp>
      <p:sp>
        <p:nvSpPr>
          <p:cNvPr id="48" name="Shape 46"/>
          <p:cNvSpPr/>
          <p:nvPr/>
        </p:nvSpPr>
        <p:spPr>
          <a:xfrm>
            <a:off x="3858768" y="2926080"/>
            <a:ext cx="1691640" cy="713232"/>
          </a:xfrm>
          <a:prstGeom prst="rect">
            <a:avLst/>
          </a:prstGeom>
          <a:solidFill>
            <a:srgbClr val="112233"/>
          </a:solidFill>
          <a:ln w="12700">
            <a:solidFill>
              <a:srgbClr val="1E90FF"/>
            </a:solidFill>
            <a:prstDash val="solid"/>
          </a:ln>
        </p:spPr>
      </p:sp>
      <p:sp>
        <p:nvSpPr>
          <p:cNvPr id="49" name="Text 47"/>
          <p:cNvSpPr/>
          <p:nvPr/>
        </p:nvSpPr>
        <p:spPr>
          <a:xfrm>
            <a:off x="3858768" y="2962656"/>
            <a:ext cx="1691640" cy="256032"/>
          </a:xfrm>
          <a:prstGeom prst="rect">
            <a:avLst/>
          </a:prstGeom>
          <a:noFill/>
        </p:spPr>
        <p:txBody>
          <a:bodyPr wrap="square" rtlCol="0" anchor="ctr"/>
          <a:lstStyle/>
          <a:p>
            <a:pPr marL="0" indent="0" algn="ctr">
              <a:buNone/>
            </a:pPr>
            <a:r>
              <a:rPr lang="en-US" sz="850" b="1" dirty="0">
                <a:solidFill>
                  <a:srgbClr val="00C9A7"/>
                </a:solidFill>
                <a:latin typeface="Calibri" panose="020F0502020204030204" pitchFamily="34" charset="0"/>
                <a:ea typeface="Calibri" panose="020F0502020204030204" pitchFamily="34" charset="-122"/>
                <a:cs typeface="Calibri" panose="020F0502020204030204" pitchFamily="34" charset="-120"/>
              </a:rPr>
              <a:t>Date</a:t>
            </a:r>
            <a:endParaRPr lang="en-US" sz="850" dirty="0"/>
          </a:p>
        </p:txBody>
      </p:sp>
      <p:sp>
        <p:nvSpPr>
          <p:cNvPr id="50" name="Text 48"/>
          <p:cNvSpPr/>
          <p:nvPr/>
        </p:nvSpPr>
        <p:spPr>
          <a:xfrm>
            <a:off x="3858768" y="3200400"/>
            <a:ext cx="1691640" cy="402336"/>
          </a:xfrm>
          <a:prstGeom prst="rect">
            <a:avLst/>
          </a:prstGeom>
          <a:noFill/>
        </p:spPr>
        <p:txBody>
          <a:bodyPr wrap="square" rtlCol="0" anchor="ctr"/>
          <a:lstStyle/>
          <a:p>
            <a:pPr algn="ctr"/>
            <a:r>
              <a:rPr lang="en-US" sz="1000" dirty="0">
                <a:solidFill>
                  <a:srgbClr val="FFFFFF"/>
                </a:solidFill>
              </a:rPr>
              <a:t>19</a:t>
            </a:r>
            <a:r>
              <a:rPr lang="en-US" sz="1000" baseline="30000" dirty="0">
                <a:solidFill>
                  <a:srgbClr val="FFFFFF"/>
                </a:solidFill>
              </a:rPr>
              <a:t>th</a:t>
            </a:r>
            <a:r>
              <a:rPr lang="en-US" sz="1000" dirty="0">
                <a:solidFill>
                  <a:srgbClr val="FFFFFF"/>
                </a:solidFill>
              </a:rPr>
              <a:t> May 2026</a:t>
            </a:r>
            <a:endParaRPr lang="en-US" sz="1000" dirty="0"/>
          </a:p>
        </p:txBody>
      </p:sp>
      <p:sp>
        <p:nvSpPr>
          <p:cNvPr id="51" name="Shape 49"/>
          <p:cNvSpPr/>
          <p:nvPr/>
        </p:nvSpPr>
        <p:spPr>
          <a:xfrm>
            <a:off x="201168" y="3794760"/>
            <a:ext cx="5303520" cy="475488"/>
          </a:xfrm>
          <a:prstGeom prst="rect">
            <a:avLst/>
          </a:prstGeom>
          <a:solidFill>
            <a:srgbClr val="0A2540"/>
          </a:solidFill>
          <a:ln w="9525">
            <a:solidFill>
              <a:srgbClr val="1E3A5F"/>
            </a:solidFill>
            <a:prstDash val="solid"/>
          </a:ln>
        </p:spPr>
      </p:sp>
      <p:sp>
        <p:nvSpPr>
          <p:cNvPr id="52" name="Text 50"/>
          <p:cNvSpPr/>
          <p:nvPr/>
        </p:nvSpPr>
        <p:spPr>
          <a:xfrm>
            <a:off x="201168" y="3794760"/>
            <a:ext cx="5303520" cy="475488"/>
          </a:xfrm>
          <a:prstGeom prst="rect">
            <a:avLst/>
          </a:prstGeom>
          <a:noFill/>
        </p:spPr>
        <p:txBody>
          <a:bodyPr wrap="square" rtlCol="0" anchor="ctr"/>
          <a:lstStyle/>
          <a:p>
            <a:pPr marL="0" indent="0" algn="ctr">
              <a:buNone/>
            </a:pPr>
            <a:r>
              <a:rPr lang="en-US" sz="1100" dirty="0">
                <a:solidFill>
                  <a:srgbClr val="8FA8C8"/>
                </a:solidFill>
                <a:latin typeface="Calibri" panose="020F0502020204030204" pitchFamily="34" charset="0"/>
                <a:ea typeface="Calibri" panose="020F0502020204030204" pitchFamily="34" charset="-122"/>
                <a:cs typeface="Calibri" panose="020F0502020204030204" pitchFamily="34" charset="-120"/>
              </a:rPr>
              <a:t>Tools: </a:t>
            </a:r>
            <a:r>
              <a:rPr lang="en-US" sz="1100" dirty="0">
                <a:solidFill>
                  <a:srgbClr val="F5A623"/>
                </a:solidFill>
                <a:latin typeface="Calibri" panose="020F0502020204030204" pitchFamily="34" charset="0"/>
                <a:ea typeface="Calibri" panose="020F0502020204030204" pitchFamily="34" charset="-122"/>
                <a:cs typeface="Calibri" panose="020F0502020204030204" pitchFamily="34" charset="-120"/>
              </a:rPr>
              <a:t>PySpark  ·  Spark SQL  ·  Python  ·  Matplotlib  ·  Jupyter / VS Code</a:t>
            </a:r>
            <a:endParaRPr lang="en-US" sz="1100" dirty="0"/>
          </a:p>
        </p:txBody>
      </p:sp>
      <p:sp>
        <p:nvSpPr>
          <p:cNvPr id="53" name="Shape 51"/>
          <p:cNvSpPr/>
          <p:nvPr/>
        </p:nvSpPr>
        <p:spPr>
          <a:xfrm>
            <a:off x="201168" y="4407408"/>
            <a:ext cx="5303520" cy="621792"/>
          </a:xfrm>
          <a:prstGeom prst="rect">
            <a:avLst/>
          </a:prstGeom>
          <a:solidFill>
            <a:srgbClr val="061120"/>
          </a:solidFill>
          <a:ln w="9525">
            <a:solidFill>
              <a:srgbClr val="00C9A7"/>
            </a:solidFill>
            <a:prstDash val="solid"/>
          </a:ln>
        </p:spPr>
      </p:sp>
      <p:sp>
        <p:nvSpPr>
          <p:cNvPr id="54" name="Text 52"/>
          <p:cNvSpPr/>
          <p:nvPr/>
        </p:nvSpPr>
        <p:spPr>
          <a:xfrm>
            <a:off x="274320" y="4407408"/>
            <a:ext cx="5120640" cy="621792"/>
          </a:xfrm>
          <a:prstGeom prst="rect">
            <a:avLst/>
          </a:prstGeom>
          <a:noFill/>
        </p:spPr>
        <p:txBody>
          <a:bodyPr wrap="square" rtlCol="0" anchor="ctr"/>
          <a:lstStyle/>
          <a:p>
            <a:pPr marL="0" indent="0" algn="ctr">
              <a:buNone/>
            </a:pPr>
            <a:r>
              <a:rPr lang="en-US" sz="1000" dirty="0">
                <a:solidFill>
                  <a:srgbClr val="8FA8C8"/>
                </a:solidFill>
                <a:latin typeface="Consolas" panose="020B0609020204030204" pitchFamily="34" charset="0"/>
                <a:ea typeface="Consolas" panose="020B0609020204030204" pitchFamily="34" charset="-122"/>
                <a:cs typeface="Consolas" panose="020B0609020204030204" pitchFamily="34" charset="-120"/>
              </a:rPr>
              <a:t>Dataset: </a:t>
            </a:r>
            <a:r>
              <a:rPr lang="en-US" sz="1000" dirty="0">
                <a:solidFill>
                  <a:srgbClr val="00C9A7"/>
                </a:solidFill>
                <a:latin typeface="Consolas" panose="020B0609020204030204" pitchFamily="34" charset="0"/>
                <a:ea typeface="Consolas" panose="020B0609020204030204" pitchFamily="34" charset="-122"/>
                <a:cs typeface="Consolas" panose="020B0609020204030204" pitchFamily="34" charset="-120"/>
              </a:rPr>
              <a:t>pakistanenergyaccesshouseholdpanelsurveydata.csv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1E90FF"/>
          </a:solidFill>
          <a:ln w="12700">
            <a:solidFill>
              <a:srgbClr val="1E90FF"/>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Introduction &amp; Motivation</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1E90FF"/>
                </a:solidFill>
                <a:latin typeface="Calibri" panose="020F0502020204030204" pitchFamily="34" charset="0"/>
                <a:ea typeface="Calibri" panose="020F0502020204030204" pitchFamily="34" charset="-122"/>
                <a:cs typeface="Calibri" panose="020F0502020204030204" pitchFamily="34" charset="-120"/>
              </a:rPr>
              <a:t>Section 1 · Why This Project?</a:t>
            </a:r>
            <a:endParaRPr lang="en-US" sz="1000" dirty="0"/>
          </a:p>
        </p:txBody>
      </p:sp>
      <p:sp>
        <p:nvSpPr>
          <p:cNvPr id="6" name="Shape 4"/>
          <p:cNvSpPr/>
          <p:nvPr/>
        </p:nvSpPr>
        <p:spPr>
          <a:xfrm>
            <a:off x="201168" y="1024128"/>
            <a:ext cx="4251960" cy="1691640"/>
          </a:xfrm>
          <a:prstGeom prst="rect">
            <a:avLst/>
          </a:prstGeom>
          <a:solidFill>
            <a:srgbClr val="112233"/>
          </a:solidFill>
          <a:ln w="12700">
            <a:solidFill>
              <a:srgbClr val="1E90FF"/>
            </a:solidFill>
            <a:prstDash val="solid"/>
          </a:ln>
        </p:spPr>
      </p:sp>
      <p:sp>
        <p:nvSpPr>
          <p:cNvPr id="7" name="Shape 5"/>
          <p:cNvSpPr/>
          <p:nvPr/>
        </p:nvSpPr>
        <p:spPr>
          <a:xfrm>
            <a:off x="201168" y="1024128"/>
            <a:ext cx="4251960" cy="347472"/>
          </a:xfrm>
          <a:prstGeom prst="rect">
            <a:avLst/>
          </a:prstGeom>
          <a:solidFill>
            <a:srgbClr val="1E90FF"/>
          </a:solidFill>
          <a:ln w="12700">
            <a:solidFill>
              <a:srgbClr val="1E90FF"/>
            </a:solidFill>
            <a:prstDash val="solid"/>
          </a:ln>
        </p:spPr>
      </p:sp>
      <p:sp>
        <p:nvSpPr>
          <p:cNvPr id="8" name="Text 6"/>
          <p:cNvSpPr/>
          <p:nvPr/>
        </p:nvSpPr>
        <p:spPr>
          <a:xfrm>
            <a:off x="201168" y="1024128"/>
            <a:ext cx="4251960"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Energy as a Development Indicator</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310896" y="1426464"/>
            <a:ext cx="4041648" cy="1188720"/>
          </a:xfrm>
          <a:prstGeom prst="rect">
            <a:avLst/>
          </a:prstGeom>
          <a:noFill/>
        </p:spPr>
        <p:txBody>
          <a:bodyPr wrap="square" rtlCol="0" anchor="t"/>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Energy access directly impacts quality of life, productivity, education, and public health — making it a critical policy metric.</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4663440" y="1024128"/>
            <a:ext cx="4251960" cy="1691640"/>
          </a:xfrm>
          <a:prstGeom prst="rect">
            <a:avLst/>
          </a:prstGeom>
          <a:solidFill>
            <a:srgbClr val="112233"/>
          </a:solidFill>
          <a:ln w="12700">
            <a:solidFill>
              <a:srgbClr val="00C9A7"/>
            </a:solidFill>
            <a:prstDash val="solid"/>
          </a:ln>
        </p:spPr>
      </p:sp>
      <p:sp>
        <p:nvSpPr>
          <p:cNvPr id="11" name="Shape 9"/>
          <p:cNvSpPr/>
          <p:nvPr/>
        </p:nvSpPr>
        <p:spPr>
          <a:xfrm>
            <a:off x="4663440" y="1024128"/>
            <a:ext cx="4251960" cy="347472"/>
          </a:xfrm>
          <a:prstGeom prst="rect">
            <a:avLst/>
          </a:prstGeom>
          <a:solidFill>
            <a:srgbClr val="00C9A7"/>
          </a:solidFill>
          <a:ln w="12700">
            <a:solidFill>
              <a:srgbClr val="00C9A7"/>
            </a:solidFill>
            <a:prstDash val="solid"/>
          </a:ln>
        </p:spPr>
      </p:sp>
      <p:sp>
        <p:nvSpPr>
          <p:cNvPr id="12" name="Text 10"/>
          <p:cNvSpPr/>
          <p:nvPr/>
        </p:nvSpPr>
        <p:spPr>
          <a:xfrm>
            <a:off x="4663440" y="1024128"/>
            <a:ext cx="4251960"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Messy, Large-Scale Survey Data</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4773168" y="1426464"/>
            <a:ext cx="4041648" cy="1188720"/>
          </a:xfrm>
          <a:prstGeom prst="rect">
            <a:avLst/>
          </a:prstGeom>
          <a:noFill/>
        </p:spPr>
        <p:txBody>
          <a:bodyPr wrap="square" rtlCol="0" anchor="t"/>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Household survey datasets contain missing values, inconsistent categories, and mixed data types — requiring a scalable cleaning and processing framework.</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201168" y="2898648"/>
            <a:ext cx="4251960" cy="1691640"/>
          </a:xfrm>
          <a:prstGeom prst="rect">
            <a:avLst/>
          </a:prstGeom>
          <a:solidFill>
            <a:srgbClr val="112233"/>
          </a:solidFill>
          <a:ln w="12700">
            <a:solidFill>
              <a:srgbClr val="F5A623"/>
            </a:solidFill>
            <a:prstDash val="solid"/>
          </a:ln>
        </p:spPr>
      </p:sp>
      <p:sp>
        <p:nvSpPr>
          <p:cNvPr id="15" name="Shape 13"/>
          <p:cNvSpPr/>
          <p:nvPr/>
        </p:nvSpPr>
        <p:spPr>
          <a:xfrm>
            <a:off x="201168" y="2898648"/>
            <a:ext cx="4251960" cy="347472"/>
          </a:xfrm>
          <a:prstGeom prst="rect">
            <a:avLst/>
          </a:prstGeom>
          <a:solidFill>
            <a:srgbClr val="F5A623"/>
          </a:solidFill>
          <a:ln w="12700">
            <a:solidFill>
              <a:srgbClr val="F5A623"/>
            </a:solidFill>
            <a:prstDash val="solid"/>
          </a:ln>
        </p:spPr>
      </p:sp>
      <p:sp>
        <p:nvSpPr>
          <p:cNvPr id="16" name="Text 14"/>
          <p:cNvSpPr/>
          <p:nvPr/>
        </p:nvSpPr>
        <p:spPr>
          <a:xfrm>
            <a:off x="201168" y="2898648"/>
            <a:ext cx="4251960"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Need for Scalable Processing</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310896" y="3300984"/>
            <a:ext cx="4041648" cy="1188720"/>
          </a:xfrm>
          <a:prstGeom prst="rect">
            <a:avLst/>
          </a:prstGeom>
          <a:noFill/>
        </p:spPr>
        <p:txBody>
          <a:bodyPr wrap="square" rtlCol="0" anchor="t"/>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Apache Spark provides distributed, in-memory computation that scales to millions of records, far beyond what single-threaded Python can handle.</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4663440" y="2898648"/>
            <a:ext cx="4251960" cy="1691640"/>
          </a:xfrm>
          <a:prstGeom prst="rect">
            <a:avLst/>
          </a:prstGeom>
          <a:solidFill>
            <a:srgbClr val="112233"/>
          </a:solidFill>
          <a:ln w="12700">
            <a:solidFill>
              <a:srgbClr val="FF6B35"/>
            </a:solidFill>
            <a:prstDash val="solid"/>
          </a:ln>
        </p:spPr>
      </p:sp>
      <p:sp>
        <p:nvSpPr>
          <p:cNvPr id="19" name="Shape 17"/>
          <p:cNvSpPr/>
          <p:nvPr/>
        </p:nvSpPr>
        <p:spPr>
          <a:xfrm>
            <a:off x="4663440" y="2898648"/>
            <a:ext cx="4251960" cy="347472"/>
          </a:xfrm>
          <a:prstGeom prst="rect">
            <a:avLst/>
          </a:prstGeom>
          <a:solidFill>
            <a:srgbClr val="FF6B35"/>
          </a:solidFill>
          <a:ln w="12700">
            <a:solidFill>
              <a:srgbClr val="FF6B35"/>
            </a:solidFill>
            <a:prstDash val="solid"/>
          </a:ln>
        </p:spPr>
      </p:sp>
      <p:sp>
        <p:nvSpPr>
          <p:cNvPr id="20" name="Text 18"/>
          <p:cNvSpPr/>
          <p:nvPr/>
        </p:nvSpPr>
        <p:spPr>
          <a:xfrm>
            <a:off x="4663440" y="2898648"/>
            <a:ext cx="4251960" cy="34747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Correctness &amp; Reproducibility</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4773168" y="3300984"/>
            <a:ext cx="4041648" cy="1188720"/>
          </a:xfrm>
          <a:prstGeom prst="rect">
            <a:avLst/>
          </a:prstGeom>
          <a:noFill/>
        </p:spPr>
        <p:txBody>
          <a:bodyPr wrap="square" rtlCol="0" anchor="t"/>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Results from Spark SQL and Spark DataFrame APIs must be validated against each other to guarantee analytical correctness.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182880" y="4681728"/>
            <a:ext cx="8778240" cy="384048"/>
          </a:xfrm>
          <a:prstGeom prst="rect">
            <a:avLst/>
          </a:prstGeom>
          <a:solidFill>
            <a:srgbClr val="0A2540"/>
          </a:solidFill>
          <a:ln w="9525">
            <a:solidFill>
              <a:srgbClr val="1E90FF"/>
            </a:solidFill>
            <a:prstDash val="solid"/>
          </a:ln>
        </p:spPr>
      </p:sp>
      <p:sp>
        <p:nvSpPr>
          <p:cNvPr id="23" name="Text 21"/>
          <p:cNvSpPr/>
          <p:nvPr/>
        </p:nvSpPr>
        <p:spPr>
          <a:xfrm>
            <a:off x="274320" y="4681728"/>
            <a:ext cx="8595360" cy="384048"/>
          </a:xfrm>
          <a:prstGeom prst="rect">
            <a:avLst/>
          </a:prstGeom>
          <a:noFill/>
        </p:spPr>
        <p:txBody>
          <a:bodyPr wrap="square" rtlCol="0" anchor="ctr"/>
          <a:lstStyle/>
          <a:p>
            <a:pPr marL="0" indent="0" algn="ctr">
              <a:buNone/>
            </a:pPr>
            <a:r>
              <a:rPr lang="en-US" sz="1000" i="1" dirty="0">
                <a:solidFill>
                  <a:srgbClr val="8FA8C8"/>
                </a:solidFill>
                <a:latin typeface="Calibri" panose="020F0502020204030204" pitchFamily="34" charset="0"/>
                <a:ea typeface="Calibri" panose="020F0502020204030204" pitchFamily="34" charset="-122"/>
                <a:cs typeface="Calibri" panose="020F0502020204030204" pitchFamily="34" charset="-120"/>
              </a:rPr>
              <a:t>Traditional Python struggles as data grows — Spark enables distributed compute scaling to millions of records efficiently.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FF6B35"/>
          </a:solidFill>
          <a:ln w="12700">
            <a:solidFill>
              <a:srgbClr val="FF6B35"/>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FF6B35"/>
                </a:solidFill>
                <a:latin typeface="Calibri" panose="020F0502020204030204" pitchFamily="34" charset="0"/>
                <a:ea typeface="Calibri" panose="020F0502020204030204" pitchFamily="34" charset="-122"/>
                <a:cs typeface="Calibri" panose="020F0502020204030204" pitchFamily="34" charset="-120"/>
              </a:rPr>
              <a:t>Section 1.2 · Project Objectives</a:t>
            </a:r>
            <a:endParaRPr lang="en-US" sz="1000" dirty="0"/>
          </a:p>
        </p:txBody>
      </p:sp>
      <p:sp>
        <p:nvSpPr>
          <p:cNvPr id="6" name="Shape 4"/>
          <p:cNvSpPr/>
          <p:nvPr/>
        </p:nvSpPr>
        <p:spPr>
          <a:xfrm>
            <a:off x="201168" y="1024128"/>
            <a:ext cx="4251960" cy="3547872"/>
          </a:xfrm>
          <a:prstGeom prst="rect">
            <a:avLst/>
          </a:prstGeom>
          <a:solidFill>
            <a:srgbClr val="112233"/>
          </a:solidFill>
          <a:ln w="12700">
            <a:solidFill>
              <a:srgbClr val="FF6B35"/>
            </a:solidFill>
            <a:prstDash val="solid"/>
          </a:ln>
        </p:spPr>
      </p:sp>
      <p:sp>
        <p:nvSpPr>
          <p:cNvPr id="7" name="Shape 5"/>
          <p:cNvSpPr/>
          <p:nvPr/>
        </p:nvSpPr>
        <p:spPr>
          <a:xfrm>
            <a:off x="201168" y="1024128"/>
            <a:ext cx="4251960" cy="347472"/>
          </a:xfrm>
          <a:prstGeom prst="rect">
            <a:avLst/>
          </a:prstGeom>
          <a:solidFill>
            <a:srgbClr val="FF6B35"/>
          </a:solidFill>
          <a:ln w="12700">
            <a:solidFill>
              <a:srgbClr val="FF6B35"/>
            </a:solidFill>
            <a:prstDash val="solid"/>
          </a:ln>
        </p:spPr>
      </p:sp>
      <p:sp>
        <p:nvSpPr>
          <p:cNvPr id="8" name="Text 6"/>
          <p:cNvSpPr/>
          <p:nvPr/>
        </p:nvSpPr>
        <p:spPr>
          <a:xfrm>
            <a:off x="201168" y="1024128"/>
            <a:ext cx="4251960" cy="347472"/>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Four Core Objectives</a:t>
            </a:r>
            <a:endParaRPr lang="en-US" sz="1200" dirty="0"/>
          </a:p>
        </p:txBody>
      </p:sp>
      <p:sp>
        <p:nvSpPr>
          <p:cNvPr id="9" name="Shape 7"/>
          <p:cNvSpPr/>
          <p:nvPr/>
        </p:nvSpPr>
        <p:spPr>
          <a:xfrm>
            <a:off x="347472" y="1591056"/>
            <a:ext cx="310896" cy="310896"/>
          </a:xfrm>
          <a:prstGeom prst="ellipse">
            <a:avLst/>
          </a:prstGeom>
          <a:solidFill>
            <a:srgbClr val="FF6B35"/>
          </a:solidFill>
          <a:ln w="12700">
            <a:solidFill>
              <a:srgbClr val="FF6B35"/>
            </a:solidFill>
            <a:prstDash val="solid"/>
          </a:ln>
        </p:spPr>
      </p:sp>
      <p:sp>
        <p:nvSpPr>
          <p:cNvPr id="10" name="Text 8"/>
          <p:cNvSpPr/>
          <p:nvPr/>
        </p:nvSpPr>
        <p:spPr>
          <a:xfrm>
            <a:off x="347472" y="1591056"/>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11" name="Text 9"/>
          <p:cNvSpPr/>
          <p:nvPr/>
        </p:nvSpPr>
        <p:spPr>
          <a:xfrm>
            <a:off x="749808" y="1481328"/>
            <a:ext cx="3566160" cy="60350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Build a clean, robust ETL pipeline using PySpark</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347472" y="2340864"/>
            <a:ext cx="310896" cy="310896"/>
          </a:xfrm>
          <a:prstGeom prst="ellipse">
            <a:avLst/>
          </a:prstGeom>
          <a:solidFill>
            <a:srgbClr val="FF6B35"/>
          </a:solidFill>
          <a:ln w="12700">
            <a:solidFill>
              <a:srgbClr val="FF6B35"/>
            </a:solidFill>
            <a:prstDash val="solid"/>
          </a:ln>
        </p:spPr>
      </p:sp>
      <p:sp>
        <p:nvSpPr>
          <p:cNvPr id="13" name="Text 11"/>
          <p:cNvSpPr/>
          <p:nvPr/>
        </p:nvSpPr>
        <p:spPr>
          <a:xfrm>
            <a:off x="347472" y="2340864"/>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4" name="Text 12"/>
          <p:cNvSpPr/>
          <p:nvPr/>
        </p:nvSpPr>
        <p:spPr>
          <a:xfrm>
            <a:off x="749808" y="2231136"/>
            <a:ext cx="3566160" cy="60350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Validate equivalence between Spark SQL and Spark DataFrame query results</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347472" y="3090672"/>
            <a:ext cx="310896" cy="310896"/>
          </a:xfrm>
          <a:prstGeom prst="ellipse">
            <a:avLst/>
          </a:prstGeom>
          <a:solidFill>
            <a:srgbClr val="FF6B35"/>
          </a:solidFill>
          <a:ln w="12700">
            <a:solidFill>
              <a:srgbClr val="FF6B35"/>
            </a:solidFill>
            <a:prstDash val="solid"/>
          </a:ln>
        </p:spPr>
      </p:sp>
      <p:sp>
        <p:nvSpPr>
          <p:cNvPr id="16" name="Text 14"/>
          <p:cNvSpPr/>
          <p:nvPr/>
        </p:nvSpPr>
        <p:spPr>
          <a:xfrm>
            <a:off x="347472" y="3090672"/>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17" name="Text 15"/>
          <p:cNvSpPr/>
          <p:nvPr/>
        </p:nvSpPr>
        <p:spPr>
          <a:xfrm>
            <a:off x="749808" y="2980944"/>
            <a:ext cx="3566160" cy="60350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Benchmark Spark against a pure Python baseline across varying dataset sizes</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347472" y="3840480"/>
            <a:ext cx="310896" cy="310896"/>
          </a:xfrm>
          <a:prstGeom prst="ellipse">
            <a:avLst/>
          </a:prstGeom>
          <a:solidFill>
            <a:srgbClr val="FF6B35"/>
          </a:solidFill>
          <a:ln w="12700">
            <a:solidFill>
              <a:srgbClr val="FF6B35"/>
            </a:solidFill>
            <a:prstDash val="solid"/>
          </a:ln>
        </p:spPr>
      </p:sp>
      <p:sp>
        <p:nvSpPr>
          <p:cNvPr id="19" name="Text 17"/>
          <p:cNvSpPr/>
          <p:nvPr/>
        </p:nvSpPr>
        <p:spPr>
          <a:xfrm>
            <a:off x="347472" y="3840480"/>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20" name="Text 18"/>
          <p:cNvSpPr/>
          <p:nvPr/>
        </p:nvSpPr>
        <p:spPr>
          <a:xfrm>
            <a:off x="749808" y="3730752"/>
            <a:ext cx="3566160" cy="60350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Generate diverse analytical visualizations using only validated, non-null data</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4663440" y="1024128"/>
            <a:ext cx="4279392" cy="3547872"/>
          </a:xfrm>
          <a:prstGeom prst="rect">
            <a:avLst/>
          </a:prstGeom>
          <a:solidFill>
            <a:srgbClr val="112233"/>
          </a:solidFill>
          <a:ln w="12700">
            <a:solidFill>
              <a:srgbClr val="00C9A7"/>
            </a:solidFill>
            <a:prstDash val="solid"/>
          </a:ln>
        </p:spPr>
      </p:sp>
      <p:sp>
        <p:nvSpPr>
          <p:cNvPr id="22" name="Shape 20"/>
          <p:cNvSpPr/>
          <p:nvPr/>
        </p:nvSpPr>
        <p:spPr>
          <a:xfrm>
            <a:off x="4663440" y="1024128"/>
            <a:ext cx="4279392" cy="347472"/>
          </a:xfrm>
          <a:prstGeom prst="rect">
            <a:avLst/>
          </a:prstGeom>
          <a:solidFill>
            <a:srgbClr val="00C9A7"/>
          </a:solidFill>
          <a:ln w="12700">
            <a:solidFill>
              <a:srgbClr val="00C9A7"/>
            </a:solidFill>
            <a:prstDash val="solid"/>
          </a:ln>
        </p:spPr>
      </p:sp>
      <p:sp>
        <p:nvSpPr>
          <p:cNvPr id="23" name="Text 21"/>
          <p:cNvSpPr/>
          <p:nvPr/>
        </p:nvSpPr>
        <p:spPr>
          <a:xfrm>
            <a:off x="4663440" y="1024128"/>
            <a:ext cx="4279392" cy="347472"/>
          </a:xfrm>
          <a:prstGeom prst="rect">
            <a:avLst/>
          </a:prstGeom>
          <a:noFill/>
        </p:spPr>
        <p:txBody>
          <a:bodyPr wrap="square" lIns="0" tIns="0" rIns="0" bIns="0" rtlCol="0" anchor="ctr"/>
          <a:lstStyle/>
          <a:p>
            <a:pPr marL="0" indent="0" algn="ctr">
              <a:buNone/>
            </a:pPr>
            <a:r>
              <a:rPr lang="en-US" sz="1200" b="1" dirty="0">
                <a:solidFill>
                  <a:srgbClr val="061120"/>
                </a:solidFill>
                <a:latin typeface="Calibri" panose="020F0502020204030204" pitchFamily="34" charset="0"/>
                <a:ea typeface="Calibri" panose="020F0502020204030204" pitchFamily="34" charset="-122"/>
                <a:cs typeface="Calibri" panose="020F0502020204030204" pitchFamily="34" charset="-120"/>
              </a:rPr>
              <a:t>❓  Key Research Questions</a:t>
            </a:r>
            <a:endParaRPr lang="en-US" sz="1200" dirty="0"/>
          </a:p>
        </p:txBody>
      </p:sp>
      <p:sp>
        <p:nvSpPr>
          <p:cNvPr id="24" name="Text 22"/>
          <p:cNvSpPr/>
          <p:nvPr/>
        </p:nvSpPr>
        <p:spPr>
          <a:xfrm>
            <a:off x="4773168" y="1463040"/>
            <a:ext cx="274320" cy="402336"/>
          </a:xfrm>
          <a:prstGeom prst="rect">
            <a:avLst/>
          </a:prstGeom>
          <a:noFill/>
        </p:spPr>
        <p:txBody>
          <a:bodyPr wrap="square" rtlCol="0" anchor="ctr"/>
          <a:lstStyle/>
          <a:p>
            <a:pPr marL="0" indent="0">
              <a:buNone/>
            </a:pPr>
            <a:r>
              <a:rPr lang="en-US" sz="1300" b="1" dirty="0">
                <a:solidFill>
                  <a:srgbClr val="00C9A7"/>
                </a:solidFill>
              </a:rPr>
              <a:t>→</a:t>
            </a:r>
            <a:endParaRPr lang="en-US" sz="1300" dirty="0"/>
          </a:p>
        </p:txBody>
      </p:sp>
      <p:sp>
        <p:nvSpPr>
          <p:cNvPr id="25" name="Text 23"/>
          <p:cNvSpPr/>
          <p:nvPr/>
        </p:nvSpPr>
        <p:spPr>
          <a:xfrm>
            <a:off x="5084064" y="1463040"/>
            <a:ext cx="3749040" cy="51206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Which regions and districts have higher connectivity rates?</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4773168" y="2066544"/>
            <a:ext cx="274320" cy="402336"/>
          </a:xfrm>
          <a:prstGeom prst="rect">
            <a:avLst/>
          </a:prstGeom>
          <a:noFill/>
        </p:spPr>
        <p:txBody>
          <a:bodyPr wrap="square" rtlCol="0" anchor="ctr"/>
          <a:lstStyle/>
          <a:p>
            <a:pPr marL="0" indent="0">
              <a:buNone/>
            </a:pPr>
            <a:r>
              <a:rPr lang="en-US" sz="1300" b="1" dirty="0">
                <a:solidFill>
                  <a:srgbClr val="00C9A7"/>
                </a:solidFill>
              </a:rPr>
              <a:t>→</a:t>
            </a:r>
            <a:endParaRPr lang="en-US" sz="1300" dirty="0"/>
          </a:p>
        </p:txBody>
      </p:sp>
      <p:sp>
        <p:nvSpPr>
          <p:cNvPr id="27" name="Text 25"/>
          <p:cNvSpPr/>
          <p:nvPr/>
        </p:nvSpPr>
        <p:spPr>
          <a:xfrm>
            <a:off x="5084064" y="2066544"/>
            <a:ext cx="3749040" cy="51206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How does connectivity differ by gender, SEC, education, and housing type?</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4773168" y="2670048"/>
            <a:ext cx="274320" cy="402336"/>
          </a:xfrm>
          <a:prstGeom prst="rect">
            <a:avLst/>
          </a:prstGeom>
          <a:noFill/>
        </p:spPr>
        <p:txBody>
          <a:bodyPr wrap="square" rtlCol="0" anchor="ctr"/>
          <a:lstStyle/>
          <a:p>
            <a:pPr marL="0" indent="0">
              <a:buNone/>
            </a:pPr>
            <a:r>
              <a:rPr lang="en-US" sz="1300" b="1" dirty="0">
                <a:solidFill>
                  <a:srgbClr val="00C9A7"/>
                </a:solidFill>
              </a:rPr>
              <a:t>→</a:t>
            </a:r>
            <a:endParaRPr lang="en-US" sz="1300" dirty="0"/>
          </a:p>
        </p:txBody>
      </p:sp>
      <p:sp>
        <p:nvSpPr>
          <p:cNvPr id="29" name="Text 27"/>
          <p:cNvSpPr/>
          <p:nvPr/>
        </p:nvSpPr>
        <p:spPr>
          <a:xfrm>
            <a:off x="5084064" y="2670048"/>
            <a:ext cx="3749040" cy="51206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Does distance to connected households relate to monthly spend or status?</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4773168" y="3273552"/>
            <a:ext cx="274320" cy="402336"/>
          </a:xfrm>
          <a:prstGeom prst="rect">
            <a:avLst/>
          </a:prstGeom>
          <a:noFill/>
        </p:spPr>
        <p:txBody>
          <a:bodyPr wrap="square" rtlCol="0" anchor="ctr"/>
          <a:lstStyle/>
          <a:p>
            <a:pPr marL="0" indent="0">
              <a:buNone/>
            </a:pPr>
            <a:r>
              <a:rPr lang="en-US" sz="1300" b="1" dirty="0">
                <a:solidFill>
                  <a:srgbClr val="00C9A7"/>
                </a:solidFill>
              </a:rPr>
              <a:t>→</a:t>
            </a:r>
            <a:endParaRPr lang="en-US" sz="1300" dirty="0"/>
          </a:p>
        </p:txBody>
      </p:sp>
      <p:sp>
        <p:nvSpPr>
          <p:cNvPr id="31" name="Text 29"/>
          <p:cNvSpPr/>
          <p:nvPr/>
        </p:nvSpPr>
        <p:spPr>
          <a:xfrm>
            <a:off x="5084064" y="3273552"/>
            <a:ext cx="3749040" cy="51206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are the most common reported reasons for not being connected?</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4773168" y="3877056"/>
            <a:ext cx="274320" cy="402336"/>
          </a:xfrm>
          <a:prstGeom prst="rect">
            <a:avLst/>
          </a:prstGeom>
          <a:noFill/>
        </p:spPr>
        <p:txBody>
          <a:bodyPr wrap="square" rtlCol="0" anchor="ctr"/>
          <a:lstStyle/>
          <a:p>
            <a:pPr marL="0" indent="0">
              <a:buNone/>
            </a:pPr>
            <a:r>
              <a:rPr lang="en-US" sz="1300" b="1" dirty="0">
                <a:solidFill>
                  <a:srgbClr val="00C9A7"/>
                </a:solidFill>
              </a:rPr>
              <a:t>→</a:t>
            </a:r>
            <a:endParaRPr lang="en-US" sz="1300" dirty="0"/>
          </a:p>
        </p:txBody>
      </p:sp>
      <p:sp>
        <p:nvSpPr>
          <p:cNvPr id="33" name="Text 31"/>
          <p:cNvSpPr/>
          <p:nvPr/>
        </p:nvSpPr>
        <p:spPr>
          <a:xfrm>
            <a:off x="5084064" y="3877056"/>
            <a:ext cx="3749040" cy="512064"/>
          </a:xfrm>
          <a:prstGeom prst="rect">
            <a:avLst/>
          </a:prstGeom>
          <a:noFill/>
        </p:spPr>
        <p:txBody>
          <a:bodyPr wrap="square"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At what row-count threshold does Spark outperform pure Python?</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F5A623"/>
          </a:solidFill>
          <a:ln w="12700">
            <a:solidFill>
              <a:srgbClr val="F5A623"/>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Dataset Overview</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F5A623"/>
                </a:solidFill>
                <a:latin typeface="Calibri" panose="020F0502020204030204" pitchFamily="34" charset="0"/>
                <a:ea typeface="Calibri" panose="020F0502020204030204" pitchFamily="34" charset="-122"/>
                <a:cs typeface="Calibri" panose="020F0502020204030204" pitchFamily="34" charset="-120"/>
              </a:rPr>
              <a:t>Section 2 · Pakistan Energy Access Household Panel Survey</a:t>
            </a:r>
            <a:endParaRPr lang="en-US" sz="1000" dirty="0"/>
          </a:p>
        </p:txBody>
      </p:sp>
      <p:sp>
        <p:nvSpPr>
          <p:cNvPr id="6" name="Shape 4"/>
          <p:cNvSpPr/>
          <p:nvPr/>
        </p:nvSpPr>
        <p:spPr>
          <a:xfrm>
            <a:off x="201168" y="969264"/>
            <a:ext cx="8741664" cy="347472"/>
          </a:xfrm>
          <a:prstGeom prst="rect">
            <a:avLst/>
          </a:prstGeom>
          <a:solidFill>
            <a:srgbClr val="0A2540"/>
          </a:solidFill>
          <a:ln w="12700">
            <a:solidFill>
              <a:srgbClr val="F5A623"/>
            </a:solidFill>
            <a:prstDash val="solid"/>
          </a:ln>
        </p:spPr>
      </p:sp>
      <p:sp>
        <p:nvSpPr>
          <p:cNvPr id="7" name="Text 5"/>
          <p:cNvSpPr/>
          <p:nvPr/>
        </p:nvSpPr>
        <p:spPr>
          <a:xfrm>
            <a:off x="274320" y="969264"/>
            <a:ext cx="8558784" cy="347472"/>
          </a:xfrm>
          <a:prstGeom prst="rect">
            <a:avLst/>
          </a:prstGeom>
          <a:noFill/>
        </p:spPr>
        <p:txBody>
          <a:bodyPr wrap="square" rtlCol="0" anchor="ctr"/>
          <a:lstStyle/>
          <a:p>
            <a:pPr marL="0" indent="0" algn="ctr">
              <a:buNone/>
            </a:pPr>
            <a:r>
              <a:rPr lang="en-US" sz="1200" dirty="0">
                <a:solidFill>
                  <a:srgbClr val="F5A623"/>
                </a:solidFill>
                <a:latin typeface="Calibri" panose="020F0502020204030204" pitchFamily="34" charset="0"/>
                <a:ea typeface="Calibri" panose="020F0502020204030204" pitchFamily="34" charset="-122"/>
                <a:cs typeface="Calibri" panose="020F0502020204030204" pitchFamily="34" charset="-120"/>
              </a:rPr>
              <a:t>📄  pakistanenergyaccesshouseholdpanelsurveydata.csv  —  Household-level socioeconomic &amp; infrastructure indicators</a:t>
            </a:r>
            <a:endParaRPr lang="en-US" sz="1200" dirty="0">
              <a:solidFill>
                <a:srgbClr val="F5A623"/>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201168" y="1463040"/>
            <a:ext cx="4251960" cy="1508760"/>
          </a:xfrm>
          <a:prstGeom prst="rect">
            <a:avLst/>
          </a:prstGeom>
          <a:solidFill>
            <a:srgbClr val="112233"/>
          </a:solidFill>
          <a:ln w="12700">
            <a:solidFill>
              <a:srgbClr val="1E90FF"/>
            </a:solidFill>
            <a:prstDash val="solid"/>
          </a:ln>
        </p:spPr>
      </p:sp>
      <p:sp>
        <p:nvSpPr>
          <p:cNvPr id="9" name="Shape 7"/>
          <p:cNvSpPr/>
          <p:nvPr/>
        </p:nvSpPr>
        <p:spPr>
          <a:xfrm>
            <a:off x="201168" y="1463040"/>
            <a:ext cx="4251960" cy="329184"/>
          </a:xfrm>
          <a:prstGeom prst="rect">
            <a:avLst/>
          </a:prstGeom>
          <a:solidFill>
            <a:srgbClr val="1E90FF"/>
          </a:solidFill>
          <a:ln w="12700">
            <a:solidFill>
              <a:srgbClr val="1E90FF"/>
            </a:solidFill>
            <a:prstDash val="solid"/>
          </a:ln>
        </p:spPr>
      </p:sp>
      <p:sp>
        <p:nvSpPr>
          <p:cNvPr id="10" name="Text 8"/>
          <p:cNvSpPr/>
          <p:nvPr/>
        </p:nvSpPr>
        <p:spPr>
          <a:xfrm>
            <a:off x="201168" y="1463040"/>
            <a:ext cx="4251960" cy="329184"/>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Location &amp; Geography</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292608" y="1847088"/>
            <a:ext cx="4069080" cy="1051560"/>
          </a:xfrm>
          <a:prstGeom prst="rect">
            <a:avLst/>
          </a:prstGeom>
          <a:noFill/>
        </p:spPr>
        <p:txBody>
          <a:bodyPr wrap="square" rtlCol="0" anchor="ctr"/>
          <a:lstStyle/>
          <a:p>
            <a:pPr marL="0" indent="0" algn="ctr">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Region  ·  Districts  ·  Cultural Belt  ·  Area type (Peri-Urban / Rural)</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4663440" y="1463040"/>
            <a:ext cx="4251960" cy="1508760"/>
          </a:xfrm>
          <a:prstGeom prst="rect">
            <a:avLst/>
          </a:prstGeom>
          <a:solidFill>
            <a:srgbClr val="112233"/>
          </a:solidFill>
          <a:ln w="12700">
            <a:solidFill>
              <a:srgbClr val="00C9A7"/>
            </a:solidFill>
            <a:prstDash val="solid"/>
          </a:ln>
        </p:spPr>
      </p:sp>
      <p:sp>
        <p:nvSpPr>
          <p:cNvPr id="13" name="Shape 11"/>
          <p:cNvSpPr/>
          <p:nvPr/>
        </p:nvSpPr>
        <p:spPr>
          <a:xfrm>
            <a:off x="4663440" y="1463040"/>
            <a:ext cx="4251960" cy="329184"/>
          </a:xfrm>
          <a:prstGeom prst="rect">
            <a:avLst/>
          </a:prstGeom>
          <a:solidFill>
            <a:srgbClr val="00C9A7"/>
          </a:solidFill>
          <a:ln w="12700">
            <a:solidFill>
              <a:srgbClr val="00C9A7"/>
            </a:solidFill>
            <a:prstDash val="solid"/>
          </a:ln>
        </p:spPr>
      </p:sp>
      <p:sp>
        <p:nvSpPr>
          <p:cNvPr id="14" name="Text 12"/>
          <p:cNvSpPr/>
          <p:nvPr/>
        </p:nvSpPr>
        <p:spPr>
          <a:xfrm>
            <a:off x="4663440" y="1463040"/>
            <a:ext cx="4251960" cy="329184"/>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Demographics</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4754880" y="1847088"/>
            <a:ext cx="4069080" cy="1051560"/>
          </a:xfrm>
          <a:prstGeom prst="rect">
            <a:avLst/>
          </a:prstGeom>
          <a:noFill/>
        </p:spPr>
        <p:txBody>
          <a:bodyPr wrap="square" rtlCol="0" anchor="ctr"/>
          <a:lstStyle/>
          <a:p>
            <a:pPr marL="0" indent="0" algn="ctr">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Gender of household head  ·  Household size  ·  Education of head  ·  SEC (Socio-Economic Class)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201168" y="3127248"/>
            <a:ext cx="4251960" cy="1508760"/>
          </a:xfrm>
          <a:prstGeom prst="rect">
            <a:avLst/>
          </a:prstGeom>
          <a:solidFill>
            <a:srgbClr val="112233"/>
          </a:solidFill>
          <a:ln w="12700">
            <a:solidFill>
              <a:srgbClr val="FF6B35"/>
            </a:solidFill>
            <a:prstDash val="solid"/>
          </a:ln>
        </p:spPr>
      </p:sp>
      <p:sp>
        <p:nvSpPr>
          <p:cNvPr id="17" name="Shape 15"/>
          <p:cNvSpPr/>
          <p:nvPr/>
        </p:nvSpPr>
        <p:spPr>
          <a:xfrm>
            <a:off x="201168" y="3127248"/>
            <a:ext cx="4251960" cy="329184"/>
          </a:xfrm>
          <a:prstGeom prst="rect">
            <a:avLst/>
          </a:prstGeom>
          <a:solidFill>
            <a:srgbClr val="FF6B35"/>
          </a:solidFill>
          <a:ln w="12700">
            <a:solidFill>
              <a:srgbClr val="FF6B35"/>
            </a:solidFill>
            <a:prstDash val="solid"/>
          </a:ln>
        </p:spPr>
      </p:sp>
      <p:sp>
        <p:nvSpPr>
          <p:cNvPr id="18" name="Text 16"/>
          <p:cNvSpPr/>
          <p:nvPr/>
        </p:nvSpPr>
        <p:spPr>
          <a:xfrm>
            <a:off x="201168" y="3127248"/>
            <a:ext cx="4251960" cy="329184"/>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  Housing Characteristics</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292608" y="3511296"/>
            <a:ext cx="4069080" cy="1051560"/>
          </a:xfrm>
          <a:prstGeom prst="rect">
            <a:avLst/>
          </a:prstGeom>
          <a:noFill/>
        </p:spPr>
        <p:txBody>
          <a:bodyPr wrap="square" rtlCol="0" anchor="ctr"/>
          <a:lstStyle/>
          <a:p>
            <a:pPr marL="0" indent="0" algn="ctr">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Housing type  ·  Number of rooms  ·  Rent vs. owned status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4663440" y="3127248"/>
            <a:ext cx="4251960" cy="1508760"/>
          </a:xfrm>
          <a:prstGeom prst="rect">
            <a:avLst/>
          </a:prstGeom>
          <a:solidFill>
            <a:srgbClr val="112233"/>
          </a:solidFill>
          <a:ln w="12700">
            <a:solidFill>
              <a:srgbClr val="F5A623"/>
            </a:solidFill>
            <a:prstDash val="solid"/>
          </a:ln>
        </p:spPr>
      </p:sp>
      <p:sp>
        <p:nvSpPr>
          <p:cNvPr id="21" name="Shape 19"/>
          <p:cNvSpPr/>
          <p:nvPr/>
        </p:nvSpPr>
        <p:spPr>
          <a:xfrm>
            <a:off x="4663440" y="3127248"/>
            <a:ext cx="4251960" cy="329184"/>
          </a:xfrm>
          <a:prstGeom prst="rect">
            <a:avLst/>
          </a:prstGeom>
          <a:solidFill>
            <a:srgbClr val="F5A623"/>
          </a:solidFill>
          <a:ln w="12700">
            <a:solidFill>
              <a:srgbClr val="F5A623"/>
            </a:solidFill>
            <a:prstDash val="solid"/>
          </a:ln>
        </p:spPr>
      </p:sp>
      <p:sp>
        <p:nvSpPr>
          <p:cNvPr id="22" name="Text 20"/>
          <p:cNvSpPr/>
          <p:nvPr/>
        </p:nvSpPr>
        <p:spPr>
          <a:xfrm>
            <a:off x="4663440" y="3127248"/>
            <a:ext cx="4251960" cy="329184"/>
          </a:xfrm>
          <a:prstGeom prst="rect">
            <a:avLst/>
          </a:prstGeom>
          <a:noFill/>
        </p:spPr>
        <p:txBody>
          <a:bodyPr wrap="square" lIns="0" tIns="0" rIns="0" bIns="0" rtlCol="0" anchor="ctr"/>
          <a:lstStyle/>
          <a:p>
            <a:pPr marL="0" indent="0" algn="ctr">
              <a:buNone/>
            </a:pPr>
            <a:r>
              <a:rPr lang="en-US" sz="1400" b="1" dirty="0">
                <a:solidFill>
                  <a:srgbClr val="061120"/>
                </a:solidFill>
                <a:latin typeface="Calibri" panose="020F0502020204030204" pitchFamily="34" charset="0"/>
                <a:ea typeface="Calibri" panose="020F0502020204030204" pitchFamily="34" charset="-122"/>
                <a:cs typeface="Calibri" panose="020F0502020204030204" pitchFamily="34" charset="-120"/>
              </a:rPr>
              <a:t>⚡  Energy &amp; Connectivity</a:t>
            </a:r>
            <a:endParaRPr lang="en-US" sz="1400" b="1" dirty="0">
              <a:solidFill>
                <a:srgbClr val="061120"/>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4754880" y="3511296"/>
            <a:ext cx="4069080" cy="1051560"/>
          </a:xfrm>
          <a:prstGeom prst="rect">
            <a:avLst/>
          </a:prstGeom>
          <a:noFill/>
        </p:spPr>
        <p:txBody>
          <a:bodyPr wrap="square" rtlCol="0" anchor="ctr"/>
          <a:lstStyle/>
          <a:p>
            <a:pPr marL="0" indent="0" algn="ctr">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Primary electricity source  ·  Monthly electricity spend (PKR)  ·  Distance to nearest connected HH (Km)  ·  Grid / Mini-grid connection status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201168" y="4645152"/>
            <a:ext cx="8741664" cy="420624"/>
          </a:xfrm>
          <a:prstGeom prst="rect">
            <a:avLst/>
          </a:prstGeom>
          <a:solidFill>
            <a:srgbClr val="061120"/>
          </a:solidFill>
          <a:ln w="12700">
            <a:solidFill>
              <a:srgbClr val="00C9A7"/>
            </a:solidFill>
            <a:prstDash val="solid"/>
          </a:ln>
        </p:spPr>
      </p:sp>
      <p:sp>
        <p:nvSpPr>
          <p:cNvPr id="25" name="Text 23"/>
          <p:cNvSpPr/>
          <p:nvPr/>
        </p:nvSpPr>
        <p:spPr>
          <a:xfrm>
            <a:off x="274320" y="4645152"/>
            <a:ext cx="8558784" cy="420624"/>
          </a:xfrm>
          <a:prstGeom prst="rect">
            <a:avLst/>
          </a:prstGeom>
          <a:noFill/>
        </p:spPr>
        <p:txBody>
          <a:bodyPr wrap="square" rtlCol="0" anchor="ctr"/>
          <a:lstStyle/>
          <a:p>
            <a:pPr marL="0" indent="0" algn="ctr">
              <a:buNone/>
            </a:pPr>
            <a:r>
              <a:rPr lang="en-US" sz="1050" b="1" dirty="0">
                <a:solidFill>
                  <a:srgbClr val="00C9A7"/>
                </a:solidFill>
                <a:latin typeface="Calibri" panose="020F0502020204030204" pitchFamily="34" charset="0"/>
                <a:ea typeface="Calibri" panose="020F0502020204030204" pitchFamily="34" charset="-122"/>
                <a:cs typeface="Calibri" panose="020F0502020204030204" pitchFamily="34" charset="-120"/>
              </a:rPr>
              <a:t>🎯  Key Field: </a:t>
            </a:r>
            <a:r>
              <a:rPr lang="en-US" sz="1050" i="1" dirty="0">
                <a:solidFill>
                  <a:srgbClr val="FFFFFF"/>
                </a:solidFill>
                <a:latin typeface="Calibri" panose="020F0502020204030204" pitchFamily="34" charset="0"/>
                <a:ea typeface="Calibri" panose="020F0502020204030204" pitchFamily="34" charset="-122"/>
                <a:cs typeface="Calibri" panose="020F0502020204030204" pitchFamily="34" charset="-120"/>
              </a:rPr>
              <a:t>"Is your household connected to the National or Local Mini-Grid?"</a:t>
            </a: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  →  Mapped to: Connected / Not Connected / Unknown (NA)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00C9A7"/>
          </a:solidFill>
          <a:ln w="12700">
            <a:solidFill>
              <a:srgbClr val="00C9A7"/>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Tools &amp; Technologies</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00C9A7"/>
                </a:solidFill>
                <a:latin typeface="Calibri" panose="020F0502020204030204" pitchFamily="34" charset="0"/>
                <a:ea typeface="Calibri" panose="020F0502020204030204" pitchFamily="34" charset="-122"/>
                <a:cs typeface="Calibri" panose="020F0502020204030204" pitchFamily="34" charset="-120"/>
              </a:rPr>
              <a:t>Section 3 · Technology Stack &amp; Output Artifacts</a:t>
            </a:r>
            <a:endParaRPr lang="en-US" sz="1000" dirty="0"/>
          </a:p>
        </p:txBody>
      </p:sp>
      <p:sp>
        <p:nvSpPr>
          <p:cNvPr id="6" name="Shape 4"/>
          <p:cNvSpPr/>
          <p:nvPr>
            <p:custDataLst>
              <p:tags r:id="rId1"/>
            </p:custDataLst>
          </p:nvPr>
        </p:nvSpPr>
        <p:spPr>
          <a:xfrm>
            <a:off x="201168" y="1005840"/>
            <a:ext cx="8741664" cy="658368"/>
          </a:xfrm>
          <a:prstGeom prst="rect">
            <a:avLst/>
          </a:prstGeom>
          <a:solidFill>
            <a:srgbClr val="112233"/>
          </a:solidFill>
          <a:ln w="12700">
            <a:solidFill>
              <a:srgbClr val="FF6B35"/>
            </a:solidFill>
            <a:prstDash val="solid"/>
          </a:ln>
        </p:spPr>
      </p:sp>
      <p:sp>
        <p:nvSpPr>
          <p:cNvPr id="7" name="Shape 5"/>
          <p:cNvSpPr/>
          <p:nvPr>
            <p:custDataLst>
              <p:tags r:id="rId2"/>
            </p:custDataLst>
          </p:nvPr>
        </p:nvSpPr>
        <p:spPr>
          <a:xfrm>
            <a:off x="201168" y="1005840"/>
            <a:ext cx="91440" cy="658368"/>
          </a:xfrm>
          <a:prstGeom prst="rect">
            <a:avLst/>
          </a:prstGeom>
          <a:solidFill>
            <a:srgbClr val="FF6B35"/>
          </a:solidFill>
          <a:ln w="12700">
            <a:solidFill>
              <a:srgbClr val="FF6B35"/>
            </a:solidFill>
            <a:prstDash val="solid"/>
          </a:ln>
        </p:spPr>
      </p:sp>
      <p:sp>
        <p:nvSpPr>
          <p:cNvPr id="8" name="Text 6"/>
          <p:cNvSpPr/>
          <p:nvPr>
            <p:custDataLst>
              <p:tags r:id="rId3"/>
            </p:custDataLst>
          </p:nvPr>
        </p:nvSpPr>
        <p:spPr>
          <a:xfrm>
            <a:off x="347472" y="1005840"/>
            <a:ext cx="1691640" cy="65836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PySpark</a:t>
            </a:r>
            <a:endParaRPr lang="en-US" sz="1200" dirty="0"/>
          </a:p>
        </p:txBody>
      </p:sp>
      <p:sp>
        <p:nvSpPr>
          <p:cNvPr id="9" name="Shape 7"/>
          <p:cNvSpPr/>
          <p:nvPr>
            <p:custDataLst>
              <p:tags r:id="rId4"/>
            </p:custDataLst>
          </p:nvPr>
        </p:nvSpPr>
        <p:spPr>
          <a:xfrm>
            <a:off x="2066544" y="1133856"/>
            <a:ext cx="0" cy="402336"/>
          </a:xfrm>
          <a:prstGeom prst="line">
            <a:avLst/>
          </a:prstGeom>
          <a:noFill/>
          <a:ln w="12700">
            <a:solidFill>
              <a:srgbClr val="1E3A5F"/>
            </a:solidFill>
            <a:prstDash val="solid"/>
          </a:ln>
        </p:spPr>
      </p:sp>
      <p:sp>
        <p:nvSpPr>
          <p:cNvPr id="10" name="Text 8"/>
          <p:cNvSpPr/>
          <p:nvPr>
            <p:custDataLst>
              <p:tags r:id="rId5"/>
            </p:custDataLst>
          </p:nvPr>
        </p:nvSpPr>
        <p:spPr>
          <a:xfrm>
            <a:off x="2212848" y="1005840"/>
            <a:ext cx="6601968" cy="658368"/>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Spark DataFrame API for scalable, distributed data processing at scale</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custDataLst>
              <p:tags r:id="rId6"/>
            </p:custDataLst>
          </p:nvPr>
        </p:nvSpPr>
        <p:spPr>
          <a:xfrm>
            <a:off x="201168" y="1755648"/>
            <a:ext cx="8741664" cy="658368"/>
          </a:xfrm>
          <a:prstGeom prst="rect">
            <a:avLst/>
          </a:prstGeom>
          <a:solidFill>
            <a:srgbClr val="112233"/>
          </a:solidFill>
          <a:ln w="12700">
            <a:solidFill>
              <a:srgbClr val="1E90FF"/>
            </a:solidFill>
            <a:prstDash val="solid"/>
          </a:ln>
        </p:spPr>
        <p:txBody>
          <a:bodyPr/>
          <a:p>
            <a:endParaRPr lang="en-GB" altLang="en-US" sz="2400"/>
          </a:p>
        </p:txBody>
      </p:sp>
      <p:sp>
        <p:nvSpPr>
          <p:cNvPr id="12" name="Shape 10"/>
          <p:cNvSpPr/>
          <p:nvPr>
            <p:custDataLst>
              <p:tags r:id="rId7"/>
            </p:custDataLst>
          </p:nvPr>
        </p:nvSpPr>
        <p:spPr>
          <a:xfrm>
            <a:off x="201168" y="1755648"/>
            <a:ext cx="91440" cy="658368"/>
          </a:xfrm>
          <a:prstGeom prst="rect">
            <a:avLst/>
          </a:prstGeom>
          <a:solidFill>
            <a:srgbClr val="1E90FF"/>
          </a:solidFill>
          <a:ln w="12700">
            <a:solidFill>
              <a:srgbClr val="1E90FF"/>
            </a:solidFill>
            <a:prstDash val="solid"/>
          </a:ln>
        </p:spPr>
      </p:sp>
      <p:sp>
        <p:nvSpPr>
          <p:cNvPr id="13" name="Text 11"/>
          <p:cNvSpPr/>
          <p:nvPr>
            <p:custDataLst>
              <p:tags r:id="rId8"/>
            </p:custDataLst>
          </p:nvPr>
        </p:nvSpPr>
        <p:spPr>
          <a:xfrm>
            <a:off x="347472" y="1755648"/>
            <a:ext cx="1691640" cy="65836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Spark SQL</a:t>
            </a:r>
            <a:endParaRPr lang="en-US" sz="1200" dirty="0"/>
          </a:p>
        </p:txBody>
      </p:sp>
      <p:sp>
        <p:nvSpPr>
          <p:cNvPr id="14" name="Shape 12"/>
          <p:cNvSpPr/>
          <p:nvPr>
            <p:custDataLst>
              <p:tags r:id="rId9"/>
            </p:custDataLst>
          </p:nvPr>
        </p:nvSpPr>
        <p:spPr>
          <a:xfrm>
            <a:off x="2066544" y="1883664"/>
            <a:ext cx="0" cy="402336"/>
          </a:xfrm>
          <a:prstGeom prst="line">
            <a:avLst/>
          </a:prstGeom>
          <a:noFill/>
          <a:ln w="12700">
            <a:solidFill>
              <a:srgbClr val="1E3A5F"/>
            </a:solidFill>
            <a:prstDash val="solid"/>
          </a:ln>
        </p:spPr>
      </p:sp>
      <p:sp>
        <p:nvSpPr>
          <p:cNvPr id="15" name="Text 13"/>
          <p:cNvSpPr/>
          <p:nvPr>
            <p:custDataLst>
              <p:tags r:id="rId10"/>
            </p:custDataLst>
          </p:nvPr>
        </p:nvSpPr>
        <p:spPr>
          <a:xfrm>
            <a:off x="2212848" y="1755648"/>
            <a:ext cx="6601968" cy="658368"/>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SQL queries executed against registered Spark temporary views — used for validation</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custDataLst>
              <p:tags r:id="rId11"/>
            </p:custDataLst>
          </p:nvPr>
        </p:nvSpPr>
        <p:spPr>
          <a:xfrm>
            <a:off x="201168" y="2505456"/>
            <a:ext cx="8741664" cy="658368"/>
          </a:xfrm>
          <a:prstGeom prst="rect">
            <a:avLst/>
          </a:prstGeom>
          <a:solidFill>
            <a:srgbClr val="112233"/>
          </a:solidFill>
          <a:ln w="12700">
            <a:solidFill>
              <a:srgbClr val="F5A623"/>
            </a:solidFill>
            <a:prstDash val="solid"/>
          </a:ln>
        </p:spPr>
        <p:txBody>
          <a:bodyPr/>
          <a:p>
            <a:endParaRPr lang="en-GB" altLang="en-US"/>
          </a:p>
        </p:txBody>
      </p:sp>
      <p:sp>
        <p:nvSpPr>
          <p:cNvPr id="17" name="Shape 15"/>
          <p:cNvSpPr/>
          <p:nvPr>
            <p:custDataLst>
              <p:tags r:id="rId12"/>
            </p:custDataLst>
          </p:nvPr>
        </p:nvSpPr>
        <p:spPr>
          <a:xfrm>
            <a:off x="201168" y="2505456"/>
            <a:ext cx="91440" cy="658368"/>
          </a:xfrm>
          <a:prstGeom prst="rect">
            <a:avLst/>
          </a:prstGeom>
          <a:solidFill>
            <a:srgbClr val="F5A623"/>
          </a:solidFill>
          <a:ln w="12700">
            <a:solidFill>
              <a:srgbClr val="F5A623"/>
            </a:solidFill>
            <a:prstDash val="solid"/>
          </a:ln>
        </p:spPr>
      </p:sp>
      <p:sp>
        <p:nvSpPr>
          <p:cNvPr id="18" name="Text 16"/>
          <p:cNvSpPr/>
          <p:nvPr>
            <p:custDataLst>
              <p:tags r:id="rId13"/>
            </p:custDataLst>
          </p:nvPr>
        </p:nvSpPr>
        <p:spPr>
          <a:xfrm>
            <a:off x="347472" y="2505456"/>
            <a:ext cx="1691640" cy="65836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Python</a:t>
            </a:r>
            <a:endParaRPr lang="en-US" sz="1200" dirty="0"/>
          </a:p>
        </p:txBody>
      </p:sp>
      <p:sp>
        <p:nvSpPr>
          <p:cNvPr id="19" name="Shape 17"/>
          <p:cNvSpPr/>
          <p:nvPr>
            <p:custDataLst>
              <p:tags r:id="rId14"/>
            </p:custDataLst>
          </p:nvPr>
        </p:nvSpPr>
        <p:spPr>
          <a:xfrm>
            <a:off x="2066544" y="2633472"/>
            <a:ext cx="0" cy="402336"/>
          </a:xfrm>
          <a:prstGeom prst="line">
            <a:avLst/>
          </a:prstGeom>
          <a:noFill/>
          <a:ln w="12700">
            <a:solidFill>
              <a:srgbClr val="1E3A5F"/>
            </a:solidFill>
            <a:prstDash val="solid"/>
          </a:ln>
        </p:spPr>
      </p:sp>
      <p:sp>
        <p:nvSpPr>
          <p:cNvPr id="20" name="Text 18"/>
          <p:cNvSpPr/>
          <p:nvPr>
            <p:custDataLst>
              <p:tags r:id="rId15"/>
            </p:custDataLst>
          </p:nvPr>
        </p:nvSpPr>
        <p:spPr>
          <a:xfrm>
            <a:off x="2212848" y="2505456"/>
            <a:ext cx="6601968" cy="658368"/>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Orchestration, baseline benchmarking, and utility scripting (csv.DictReader)</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custDataLst>
              <p:tags r:id="rId16"/>
            </p:custDataLst>
          </p:nvPr>
        </p:nvSpPr>
        <p:spPr>
          <a:xfrm>
            <a:off x="201168" y="3255264"/>
            <a:ext cx="8741664" cy="658368"/>
          </a:xfrm>
          <a:prstGeom prst="rect">
            <a:avLst/>
          </a:prstGeom>
          <a:solidFill>
            <a:srgbClr val="112233"/>
          </a:solidFill>
          <a:ln w="12700">
            <a:solidFill>
              <a:srgbClr val="9B59B6"/>
            </a:solidFill>
            <a:prstDash val="solid"/>
          </a:ln>
        </p:spPr>
      </p:sp>
      <p:sp>
        <p:nvSpPr>
          <p:cNvPr id="22" name="Shape 20"/>
          <p:cNvSpPr/>
          <p:nvPr>
            <p:custDataLst>
              <p:tags r:id="rId17"/>
            </p:custDataLst>
          </p:nvPr>
        </p:nvSpPr>
        <p:spPr>
          <a:xfrm>
            <a:off x="201168" y="3255264"/>
            <a:ext cx="91440" cy="658368"/>
          </a:xfrm>
          <a:prstGeom prst="rect">
            <a:avLst/>
          </a:prstGeom>
          <a:solidFill>
            <a:srgbClr val="9B59B6"/>
          </a:solidFill>
          <a:ln w="12700">
            <a:solidFill>
              <a:srgbClr val="9B59B6"/>
            </a:solidFill>
            <a:prstDash val="solid"/>
          </a:ln>
        </p:spPr>
      </p:sp>
      <p:sp>
        <p:nvSpPr>
          <p:cNvPr id="23" name="Text 21"/>
          <p:cNvSpPr/>
          <p:nvPr>
            <p:custDataLst>
              <p:tags r:id="rId18"/>
            </p:custDataLst>
          </p:nvPr>
        </p:nvSpPr>
        <p:spPr>
          <a:xfrm>
            <a:off x="347472" y="3255264"/>
            <a:ext cx="1691640" cy="65836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Matplotlib</a:t>
            </a:r>
            <a:endParaRPr lang="en-US" sz="1200" dirty="0"/>
          </a:p>
        </p:txBody>
      </p:sp>
      <p:sp>
        <p:nvSpPr>
          <p:cNvPr id="24" name="Shape 22"/>
          <p:cNvSpPr/>
          <p:nvPr>
            <p:custDataLst>
              <p:tags r:id="rId19"/>
            </p:custDataLst>
          </p:nvPr>
        </p:nvSpPr>
        <p:spPr>
          <a:xfrm>
            <a:off x="2066544" y="3383280"/>
            <a:ext cx="0" cy="402336"/>
          </a:xfrm>
          <a:prstGeom prst="line">
            <a:avLst/>
          </a:prstGeom>
          <a:noFill/>
          <a:ln w="12700">
            <a:solidFill>
              <a:srgbClr val="1E3A5F"/>
            </a:solidFill>
            <a:prstDash val="solid"/>
          </a:ln>
        </p:spPr>
      </p:sp>
      <p:sp>
        <p:nvSpPr>
          <p:cNvPr id="25" name="Text 23"/>
          <p:cNvSpPr/>
          <p:nvPr>
            <p:custDataLst>
              <p:tags r:id="rId20"/>
            </p:custDataLst>
          </p:nvPr>
        </p:nvSpPr>
        <p:spPr>
          <a:xfrm>
            <a:off x="2212848" y="3255264"/>
            <a:ext cx="6601968" cy="658368"/>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Chart generation — all plots exported in JPG format only (no PNG output)</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custDataLst>
              <p:tags r:id="rId21"/>
            </p:custDataLst>
          </p:nvPr>
        </p:nvSpPr>
        <p:spPr>
          <a:xfrm>
            <a:off x="201168" y="4005072"/>
            <a:ext cx="8741664" cy="658368"/>
          </a:xfrm>
          <a:prstGeom prst="rect">
            <a:avLst/>
          </a:prstGeom>
          <a:solidFill>
            <a:srgbClr val="112233"/>
          </a:solidFill>
          <a:ln w="12700">
            <a:solidFill>
              <a:srgbClr val="00C9A7"/>
            </a:solidFill>
            <a:prstDash val="solid"/>
          </a:ln>
        </p:spPr>
      </p:sp>
      <p:sp>
        <p:nvSpPr>
          <p:cNvPr id="27" name="Shape 25"/>
          <p:cNvSpPr/>
          <p:nvPr>
            <p:custDataLst>
              <p:tags r:id="rId22"/>
            </p:custDataLst>
          </p:nvPr>
        </p:nvSpPr>
        <p:spPr>
          <a:xfrm>
            <a:off x="201168" y="4005072"/>
            <a:ext cx="91440" cy="658368"/>
          </a:xfrm>
          <a:prstGeom prst="rect">
            <a:avLst/>
          </a:prstGeom>
          <a:solidFill>
            <a:srgbClr val="00C9A7"/>
          </a:solidFill>
          <a:ln w="12700">
            <a:solidFill>
              <a:srgbClr val="00C9A7"/>
            </a:solidFill>
            <a:prstDash val="solid"/>
          </a:ln>
        </p:spPr>
      </p:sp>
      <p:sp>
        <p:nvSpPr>
          <p:cNvPr id="28" name="Text 26"/>
          <p:cNvSpPr/>
          <p:nvPr>
            <p:custDataLst>
              <p:tags r:id="rId23"/>
            </p:custDataLst>
          </p:nvPr>
        </p:nvSpPr>
        <p:spPr>
          <a:xfrm>
            <a:off x="347472" y="4005072"/>
            <a:ext cx="1691640" cy="65836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Jupyter / VS Code</a:t>
            </a:r>
            <a:endParaRPr lang="en-US" sz="1200" dirty="0"/>
          </a:p>
        </p:txBody>
      </p:sp>
      <p:sp>
        <p:nvSpPr>
          <p:cNvPr id="29" name="Shape 27"/>
          <p:cNvSpPr/>
          <p:nvPr>
            <p:custDataLst>
              <p:tags r:id="rId24"/>
            </p:custDataLst>
          </p:nvPr>
        </p:nvSpPr>
        <p:spPr>
          <a:xfrm>
            <a:off x="2066544" y="4133088"/>
            <a:ext cx="0" cy="402336"/>
          </a:xfrm>
          <a:prstGeom prst="line">
            <a:avLst/>
          </a:prstGeom>
          <a:noFill/>
          <a:ln w="12700">
            <a:solidFill>
              <a:srgbClr val="1E3A5F"/>
            </a:solidFill>
            <a:prstDash val="solid"/>
          </a:ln>
        </p:spPr>
      </p:sp>
      <p:sp>
        <p:nvSpPr>
          <p:cNvPr id="30" name="Text 28"/>
          <p:cNvSpPr/>
          <p:nvPr>
            <p:custDataLst>
              <p:tags r:id="rId25"/>
            </p:custDataLst>
          </p:nvPr>
        </p:nvSpPr>
        <p:spPr>
          <a:xfrm>
            <a:off x="2212848" y="4005072"/>
            <a:ext cx="6601968" cy="658368"/>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Interactive notebook development environment — primary execution environment</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nvSpPr>
        <p:spPr>
          <a:xfrm>
            <a:off x="201168" y="4663440"/>
            <a:ext cx="8741664" cy="384048"/>
          </a:xfrm>
          <a:prstGeom prst="rect">
            <a:avLst/>
          </a:prstGeom>
          <a:solidFill>
            <a:srgbClr val="0A2540"/>
          </a:solidFill>
          <a:ln w="9525">
            <a:solidFill>
              <a:srgbClr val="00C9A7"/>
            </a:solidFill>
            <a:prstDash val="solid"/>
          </a:ln>
        </p:spPr>
      </p:sp>
      <p:sp>
        <p:nvSpPr>
          <p:cNvPr id="32" name="Text 30"/>
          <p:cNvSpPr/>
          <p:nvPr/>
        </p:nvSpPr>
        <p:spPr>
          <a:xfrm>
            <a:off x="274320" y="4663440"/>
            <a:ext cx="8558784" cy="384048"/>
          </a:xfrm>
          <a:prstGeom prst="rect">
            <a:avLst/>
          </a:prstGeom>
          <a:noFill/>
        </p:spPr>
        <p:txBody>
          <a:bodyPr wrap="square" rtlCol="0" anchor="ctr"/>
          <a:lstStyle/>
          <a:p>
            <a:pPr marL="0" indent="0" algn="ctr">
              <a:buNone/>
            </a:pPr>
            <a:r>
              <a:rPr lang="en-US" sz="1050" dirty="0">
                <a:solidFill>
                  <a:srgbClr val="00C9A7"/>
                </a:solidFill>
                <a:latin typeface="Consolas" panose="020B0609020204030204" pitchFamily="34" charset="0"/>
                <a:ea typeface="Consolas" panose="020B0609020204030204" pitchFamily="34" charset="-122"/>
                <a:cs typeface="Consolas" panose="020B0609020204030204" pitchFamily="34" charset="-120"/>
              </a:rPr>
              <a:t>📦  Outputs: etl_output/connected_counts_by_region.csv  ·  .jsonl  ·  etl_output/plots/jpg/*.jpg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1E90FF"/>
          </a:solidFill>
          <a:ln w="12700">
            <a:solidFill>
              <a:srgbClr val="1E90FF"/>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ETL Pipeline Methodology</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1E90FF"/>
                </a:solidFill>
                <a:latin typeface="Calibri" panose="020F0502020204030204" pitchFamily="34" charset="0"/>
                <a:ea typeface="Calibri" panose="020F0502020204030204" pitchFamily="34" charset="-122"/>
                <a:cs typeface="Calibri" panose="020F0502020204030204" pitchFamily="34" charset="-120"/>
              </a:rPr>
              <a:t>Section 4.1 · Six-Phase Pipeline</a:t>
            </a:r>
            <a:endParaRPr lang="en-US" sz="1000" dirty="0"/>
          </a:p>
        </p:txBody>
      </p:sp>
      <p:sp>
        <p:nvSpPr>
          <p:cNvPr id="6" name="Shape 4"/>
          <p:cNvSpPr/>
          <p:nvPr>
            <p:custDataLst>
              <p:tags r:id="rId1"/>
            </p:custDataLst>
          </p:nvPr>
        </p:nvSpPr>
        <p:spPr>
          <a:xfrm>
            <a:off x="201168" y="1024128"/>
            <a:ext cx="4251960" cy="1078992"/>
          </a:xfrm>
          <a:prstGeom prst="rect">
            <a:avLst/>
          </a:prstGeom>
          <a:solidFill>
            <a:srgbClr val="112233"/>
          </a:solidFill>
          <a:ln w="12700">
            <a:solidFill>
              <a:srgbClr val="1E90FF"/>
            </a:solidFill>
            <a:prstDash val="solid"/>
          </a:ln>
        </p:spPr>
      </p:sp>
      <p:sp>
        <p:nvSpPr>
          <p:cNvPr id="7" name="Shape 5"/>
          <p:cNvSpPr/>
          <p:nvPr>
            <p:custDataLst>
              <p:tags r:id="rId2"/>
            </p:custDataLst>
          </p:nvPr>
        </p:nvSpPr>
        <p:spPr>
          <a:xfrm>
            <a:off x="310896" y="1298448"/>
            <a:ext cx="402336" cy="402336"/>
          </a:xfrm>
          <a:prstGeom prst="ellipse">
            <a:avLst/>
          </a:prstGeom>
          <a:solidFill>
            <a:srgbClr val="1E90FF"/>
          </a:solidFill>
          <a:ln w="12700">
            <a:solidFill>
              <a:srgbClr val="1E90FF"/>
            </a:solidFill>
            <a:prstDash val="solid"/>
          </a:ln>
        </p:spPr>
      </p:sp>
      <p:sp>
        <p:nvSpPr>
          <p:cNvPr id="8" name="Text 6"/>
          <p:cNvSpPr/>
          <p:nvPr>
            <p:custDataLst>
              <p:tags r:id="rId3"/>
            </p:custDataLst>
          </p:nvPr>
        </p:nvSpPr>
        <p:spPr>
          <a:xfrm>
            <a:off x="310896" y="12984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9" name="Text 7"/>
          <p:cNvSpPr/>
          <p:nvPr>
            <p:custDataLst>
              <p:tags r:id="rId4"/>
            </p:custDataLst>
          </p:nvPr>
        </p:nvSpPr>
        <p:spPr>
          <a:xfrm>
            <a:off x="804672" y="1097280"/>
            <a:ext cx="3547872" cy="365760"/>
          </a:xfrm>
          <a:prstGeom prst="rect">
            <a:avLst/>
          </a:prstGeom>
          <a:noFill/>
        </p:spPr>
        <p:txBody>
          <a:bodyPr wrap="square" rtlCol="0" anchor="ctr"/>
          <a:lstStyle/>
          <a:p>
            <a:pPr marL="0" indent="0">
              <a:buNone/>
            </a:pPr>
            <a:r>
              <a:rPr lang="en-US" sz="1300" b="1" dirty="0">
                <a:solidFill>
                  <a:srgbClr val="1E90FF"/>
                </a:solidFill>
                <a:latin typeface="Calibri" panose="020F0502020204030204" pitchFamily="34" charset="0"/>
                <a:ea typeface="Calibri" panose="020F0502020204030204" pitchFamily="34" charset="-122"/>
                <a:cs typeface="Calibri" panose="020F0502020204030204" pitchFamily="34" charset="-120"/>
              </a:rPr>
              <a:t>EXTRACT</a:t>
            </a:r>
            <a:endParaRPr lang="en-US" sz="1300" dirty="0"/>
          </a:p>
        </p:txBody>
      </p:sp>
      <p:sp>
        <p:nvSpPr>
          <p:cNvPr id="10" name="Text 8"/>
          <p:cNvSpPr/>
          <p:nvPr>
            <p:custDataLst>
              <p:tags r:id="rId5"/>
            </p:custDataLst>
          </p:nvPr>
        </p:nvSpPr>
        <p:spPr>
          <a:xfrm>
            <a:off x="804672" y="1463040"/>
            <a:ext cx="3547872" cy="566928"/>
          </a:xfrm>
          <a:prstGeom prst="rect">
            <a:avLst/>
          </a:prstGeom>
          <a:noFill/>
        </p:spPr>
        <p:txBody>
          <a:bodyPr wrap="square" rtlCol="0" anchor="t"/>
          <a:lstStyle/>
          <a:p>
            <a:pPr marL="0" indent="0" algn="just">
              <a:buNone/>
            </a:pPr>
            <a:r>
              <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rPr>
              <a:t>Load raw CSV into Spark DataFrame via spark.read.option("header","true").csv(...)</a:t>
            </a:r>
            <a:endPar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custDataLst>
              <p:tags r:id="rId6"/>
            </p:custDataLst>
          </p:nvPr>
        </p:nvSpPr>
        <p:spPr>
          <a:xfrm>
            <a:off x="4663440" y="1024128"/>
            <a:ext cx="4251960" cy="1078992"/>
          </a:xfrm>
          <a:prstGeom prst="rect">
            <a:avLst/>
          </a:prstGeom>
          <a:solidFill>
            <a:srgbClr val="112233"/>
          </a:solidFill>
          <a:ln w="12700">
            <a:solidFill>
              <a:srgbClr val="FF6B35"/>
            </a:solidFill>
            <a:prstDash val="solid"/>
          </a:ln>
        </p:spPr>
      </p:sp>
      <p:sp>
        <p:nvSpPr>
          <p:cNvPr id="12" name="Shape 10"/>
          <p:cNvSpPr/>
          <p:nvPr>
            <p:custDataLst>
              <p:tags r:id="rId7"/>
            </p:custDataLst>
          </p:nvPr>
        </p:nvSpPr>
        <p:spPr>
          <a:xfrm>
            <a:off x="4773168" y="1298448"/>
            <a:ext cx="402336" cy="402336"/>
          </a:xfrm>
          <a:prstGeom prst="ellipse">
            <a:avLst/>
          </a:prstGeom>
          <a:solidFill>
            <a:srgbClr val="FF6B35"/>
          </a:solidFill>
          <a:ln w="12700">
            <a:solidFill>
              <a:srgbClr val="FF6B35"/>
            </a:solidFill>
            <a:prstDash val="solid"/>
          </a:ln>
        </p:spPr>
      </p:sp>
      <p:sp>
        <p:nvSpPr>
          <p:cNvPr id="13" name="Text 11"/>
          <p:cNvSpPr/>
          <p:nvPr>
            <p:custDataLst>
              <p:tags r:id="rId8"/>
            </p:custDataLst>
          </p:nvPr>
        </p:nvSpPr>
        <p:spPr>
          <a:xfrm>
            <a:off x="4773168" y="1298448"/>
            <a:ext cx="402336" cy="402336"/>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4" name="Text 12"/>
          <p:cNvSpPr/>
          <p:nvPr>
            <p:custDataLst>
              <p:tags r:id="rId9"/>
            </p:custDataLst>
          </p:nvPr>
        </p:nvSpPr>
        <p:spPr>
          <a:xfrm>
            <a:off x="5266944" y="1097280"/>
            <a:ext cx="3547872" cy="365760"/>
          </a:xfrm>
          <a:prstGeom prst="rect">
            <a:avLst/>
          </a:prstGeom>
          <a:noFill/>
        </p:spPr>
        <p:txBody>
          <a:bodyPr wrap="square" rtlCol="0" anchor="ctr"/>
          <a:lstStyle/>
          <a:p>
            <a:pPr marL="0" indent="0">
              <a:buNone/>
            </a:pPr>
            <a:r>
              <a:rPr lang="en-US" sz="1300" b="1" dirty="0">
                <a:solidFill>
                  <a:srgbClr val="FF6B35"/>
                </a:solidFill>
                <a:latin typeface="Calibri" panose="020F0502020204030204" pitchFamily="34" charset="0"/>
                <a:ea typeface="Calibri" panose="020F0502020204030204" pitchFamily="34" charset="-122"/>
                <a:cs typeface="Calibri" panose="020F0502020204030204" pitchFamily="34" charset="-120"/>
              </a:rPr>
              <a:t>TRANSFORM</a:t>
            </a:r>
            <a:endParaRPr lang="en-US" sz="1300" dirty="0"/>
          </a:p>
        </p:txBody>
      </p:sp>
      <p:sp>
        <p:nvSpPr>
          <p:cNvPr id="15" name="Text 13"/>
          <p:cNvSpPr/>
          <p:nvPr>
            <p:custDataLst>
              <p:tags r:id="rId10"/>
            </p:custDataLst>
          </p:nvPr>
        </p:nvSpPr>
        <p:spPr>
          <a:xfrm>
            <a:off x="5266944" y="1463040"/>
            <a:ext cx="3547872" cy="566928"/>
          </a:xfrm>
          <a:prstGeom prst="rect">
            <a:avLst/>
          </a:prstGeom>
          <a:noFill/>
        </p:spPr>
        <p:txBody>
          <a:bodyPr wrap="square" rtlCol="0" anchor="t"/>
          <a:lstStyle/>
          <a:p>
            <a:pPr marL="0" indent="0" algn="just">
              <a:buNone/>
            </a:pPr>
            <a:r>
              <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rPr>
              <a:t>Standardize categories, safe-cast numerics, derive connection_status, filter nulls/UNKNOWN</a:t>
            </a:r>
            <a:endPar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custDataLst>
              <p:tags r:id="rId11"/>
            </p:custDataLst>
          </p:nvPr>
        </p:nvSpPr>
        <p:spPr>
          <a:xfrm>
            <a:off x="201168" y="2267712"/>
            <a:ext cx="4251960" cy="1078992"/>
          </a:xfrm>
          <a:prstGeom prst="rect">
            <a:avLst/>
          </a:prstGeom>
          <a:solidFill>
            <a:srgbClr val="112233"/>
          </a:solidFill>
          <a:ln w="12700">
            <a:solidFill>
              <a:srgbClr val="00C9A7"/>
            </a:solidFill>
            <a:prstDash val="solid"/>
          </a:ln>
        </p:spPr>
      </p:sp>
      <p:sp>
        <p:nvSpPr>
          <p:cNvPr id="17" name="Shape 15"/>
          <p:cNvSpPr/>
          <p:nvPr>
            <p:custDataLst>
              <p:tags r:id="rId12"/>
            </p:custDataLst>
          </p:nvPr>
        </p:nvSpPr>
        <p:spPr>
          <a:xfrm>
            <a:off x="310896" y="2542032"/>
            <a:ext cx="402336" cy="402336"/>
          </a:xfrm>
          <a:prstGeom prst="ellipse">
            <a:avLst/>
          </a:prstGeom>
          <a:solidFill>
            <a:srgbClr val="00C9A7"/>
          </a:solidFill>
          <a:ln w="12700">
            <a:solidFill>
              <a:srgbClr val="00C9A7"/>
            </a:solidFill>
            <a:prstDash val="solid"/>
          </a:ln>
        </p:spPr>
      </p:sp>
      <p:sp>
        <p:nvSpPr>
          <p:cNvPr id="18" name="Text 16"/>
          <p:cNvSpPr/>
          <p:nvPr>
            <p:custDataLst>
              <p:tags r:id="rId13"/>
            </p:custDataLst>
          </p:nvPr>
        </p:nvSpPr>
        <p:spPr>
          <a:xfrm>
            <a:off x="310896" y="2542032"/>
            <a:ext cx="402336" cy="402336"/>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Text 17"/>
          <p:cNvSpPr/>
          <p:nvPr>
            <p:custDataLst>
              <p:tags r:id="rId14"/>
            </p:custDataLst>
          </p:nvPr>
        </p:nvSpPr>
        <p:spPr>
          <a:xfrm>
            <a:off x="804672" y="2340864"/>
            <a:ext cx="3547872" cy="365760"/>
          </a:xfrm>
          <a:prstGeom prst="rect">
            <a:avLst/>
          </a:prstGeom>
          <a:noFill/>
        </p:spPr>
        <p:txBody>
          <a:bodyPr wrap="square" rtlCol="0" anchor="ctr"/>
          <a:lstStyle/>
          <a:p>
            <a:pPr marL="0" indent="0">
              <a:buNone/>
            </a:pPr>
            <a:r>
              <a:rPr lang="en-US" sz="1300" b="1" dirty="0">
                <a:solidFill>
                  <a:srgbClr val="00C9A7"/>
                </a:solidFill>
                <a:latin typeface="Calibri" panose="020F0502020204030204" pitchFamily="34" charset="0"/>
                <a:ea typeface="Calibri" panose="020F0502020204030204" pitchFamily="34" charset="-122"/>
                <a:cs typeface="Calibri" panose="020F0502020204030204" pitchFamily="34" charset="-120"/>
              </a:rPr>
              <a:t>LOAD</a:t>
            </a:r>
            <a:endParaRPr lang="en-US" sz="1300" dirty="0"/>
          </a:p>
        </p:txBody>
      </p:sp>
      <p:sp>
        <p:nvSpPr>
          <p:cNvPr id="20" name="Text 18"/>
          <p:cNvSpPr/>
          <p:nvPr>
            <p:custDataLst>
              <p:tags r:id="rId15"/>
            </p:custDataLst>
          </p:nvPr>
        </p:nvSpPr>
        <p:spPr>
          <a:xfrm>
            <a:off x="804672" y="2706624"/>
            <a:ext cx="3547872" cy="566928"/>
          </a:xfrm>
          <a:prstGeom prst="rect">
            <a:avLst/>
          </a:prstGeom>
          <a:noFill/>
        </p:spPr>
        <p:txBody>
          <a:bodyPr wrap="square" rtlCol="0" anchor="t"/>
          <a:lstStyle/>
          <a:p>
            <a:pPr marL="0" indent="0" algn="just">
              <a:buNone/>
            </a:pPr>
            <a:r>
              <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rPr>
              <a:t>Export connected_counts_by_region to CSV and JSONL in etl_output/</a:t>
            </a:r>
            <a:endPar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custDataLst>
              <p:tags r:id="rId16"/>
            </p:custDataLst>
          </p:nvPr>
        </p:nvSpPr>
        <p:spPr>
          <a:xfrm>
            <a:off x="4663440" y="2267712"/>
            <a:ext cx="4251960" cy="1078992"/>
          </a:xfrm>
          <a:prstGeom prst="rect">
            <a:avLst/>
          </a:prstGeom>
          <a:solidFill>
            <a:srgbClr val="112233"/>
          </a:solidFill>
          <a:ln w="12700">
            <a:solidFill>
              <a:srgbClr val="9B59B6"/>
            </a:solidFill>
            <a:prstDash val="solid"/>
          </a:ln>
        </p:spPr>
      </p:sp>
      <p:sp>
        <p:nvSpPr>
          <p:cNvPr id="22" name="Shape 20"/>
          <p:cNvSpPr/>
          <p:nvPr>
            <p:custDataLst>
              <p:tags r:id="rId17"/>
            </p:custDataLst>
          </p:nvPr>
        </p:nvSpPr>
        <p:spPr>
          <a:xfrm>
            <a:off x="4773168" y="2542032"/>
            <a:ext cx="402336" cy="402336"/>
          </a:xfrm>
          <a:prstGeom prst="ellipse">
            <a:avLst/>
          </a:prstGeom>
          <a:solidFill>
            <a:srgbClr val="9B59B6"/>
          </a:solidFill>
          <a:ln w="12700">
            <a:solidFill>
              <a:srgbClr val="9B59B6"/>
            </a:solidFill>
            <a:prstDash val="solid"/>
          </a:ln>
        </p:spPr>
      </p:sp>
      <p:sp>
        <p:nvSpPr>
          <p:cNvPr id="23" name="Text 21"/>
          <p:cNvSpPr/>
          <p:nvPr>
            <p:custDataLst>
              <p:tags r:id="rId18"/>
            </p:custDataLst>
          </p:nvPr>
        </p:nvSpPr>
        <p:spPr>
          <a:xfrm>
            <a:off x="4773168" y="2542032"/>
            <a:ext cx="402336" cy="402336"/>
          </a:xfrm>
          <a:prstGeom prst="rect">
            <a:avLst/>
          </a:prstGeom>
          <a:noFill/>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4" name="Text 22"/>
          <p:cNvSpPr/>
          <p:nvPr>
            <p:custDataLst>
              <p:tags r:id="rId19"/>
            </p:custDataLst>
          </p:nvPr>
        </p:nvSpPr>
        <p:spPr>
          <a:xfrm>
            <a:off x="5266944" y="2340864"/>
            <a:ext cx="3547872" cy="365760"/>
          </a:xfrm>
          <a:prstGeom prst="rect">
            <a:avLst/>
          </a:prstGeom>
          <a:noFill/>
        </p:spPr>
        <p:txBody>
          <a:bodyPr wrap="square" rtlCol="0" anchor="ctr"/>
          <a:lstStyle/>
          <a:p>
            <a:pPr marL="0" indent="0">
              <a:buNone/>
            </a:pPr>
            <a:r>
              <a:rPr lang="en-US" sz="1300" b="1" dirty="0">
                <a:solidFill>
                  <a:srgbClr val="9B59B6"/>
                </a:solidFill>
                <a:latin typeface="Calibri" panose="020F0502020204030204" pitchFamily="34" charset="0"/>
                <a:ea typeface="Calibri" panose="020F0502020204030204" pitchFamily="34" charset="-122"/>
                <a:cs typeface="Calibri" panose="020F0502020204030204" pitchFamily="34" charset="-120"/>
              </a:rPr>
              <a:t>VALIDATE</a:t>
            </a:r>
            <a:endParaRPr lang="en-US" sz="1300" dirty="0"/>
          </a:p>
        </p:txBody>
      </p:sp>
      <p:sp>
        <p:nvSpPr>
          <p:cNvPr id="25" name="Text 23"/>
          <p:cNvSpPr/>
          <p:nvPr>
            <p:custDataLst>
              <p:tags r:id="rId20"/>
            </p:custDataLst>
          </p:nvPr>
        </p:nvSpPr>
        <p:spPr>
          <a:xfrm>
            <a:off x="5266944" y="2706624"/>
            <a:ext cx="3547872" cy="566928"/>
          </a:xfrm>
          <a:prstGeom prst="rect">
            <a:avLst/>
          </a:prstGeom>
          <a:noFill/>
        </p:spPr>
        <p:txBody>
          <a:bodyPr wrap="square" rtlCol="0" anchor="t"/>
          <a:lstStyle/>
          <a:p>
            <a:pPr marL="0" indent="0" algn="just">
              <a:buNone/>
            </a:pPr>
            <a:r>
              <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rPr>
              <a:t>Compare Spark SQL and DataFrame aggregations — expect zero row mismatches</a:t>
            </a:r>
            <a:endPar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custDataLst>
              <p:tags r:id="rId21"/>
            </p:custDataLst>
          </p:nvPr>
        </p:nvSpPr>
        <p:spPr>
          <a:xfrm>
            <a:off x="201168" y="3511296"/>
            <a:ext cx="4251960" cy="1078992"/>
          </a:xfrm>
          <a:prstGeom prst="rect">
            <a:avLst/>
          </a:prstGeom>
          <a:solidFill>
            <a:srgbClr val="112233"/>
          </a:solidFill>
          <a:ln w="12700">
            <a:solidFill>
              <a:srgbClr val="F5A623"/>
            </a:solidFill>
            <a:prstDash val="solid"/>
          </a:ln>
        </p:spPr>
      </p:sp>
      <p:sp>
        <p:nvSpPr>
          <p:cNvPr id="27" name="Shape 25"/>
          <p:cNvSpPr/>
          <p:nvPr>
            <p:custDataLst>
              <p:tags r:id="rId22"/>
            </p:custDataLst>
          </p:nvPr>
        </p:nvSpPr>
        <p:spPr>
          <a:xfrm>
            <a:off x="310896" y="3785616"/>
            <a:ext cx="402336" cy="402336"/>
          </a:xfrm>
          <a:prstGeom prst="ellipse">
            <a:avLst/>
          </a:prstGeom>
          <a:solidFill>
            <a:srgbClr val="F5A623"/>
          </a:solidFill>
          <a:ln w="12700">
            <a:solidFill>
              <a:srgbClr val="F5A623"/>
            </a:solidFill>
            <a:prstDash val="solid"/>
          </a:ln>
        </p:spPr>
      </p:sp>
      <p:sp>
        <p:nvSpPr>
          <p:cNvPr id="28" name="Text 26"/>
          <p:cNvSpPr/>
          <p:nvPr>
            <p:custDataLst>
              <p:tags r:id="rId23"/>
            </p:custDataLst>
          </p:nvPr>
        </p:nvSpPr>
        <p:spPr>
          <a:xfrm>
            <a:off x="310896" y="3785616"/>
            <a:ext cx="402336" cy="402336"/>
          </a:xfrm>
          <a:prstGeom prst="rect">
            <a:avLst/>
          </a:prstGeom>
          <a:noFill/>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9" name="Text 27"/>
          <p:cNvSpPr/>
          <p:nvPr>
            <p:custDataLst>
              <p:tags r:id="rId24"/>
            </p:custDataLst>
          </p:nvPr>
        </p:nvSpPr>
        <p:spPr>
          <a:xfrm>
            <a:off x="804672" y="3584448"/>
            <a:ext cx="3547872" cy="365760"/>
          </a:xfrm>
          <a:prstGeom prst="rect">
            <a:avLst/>
          </a:prstGeom>
          <a:noFill/>
        </p:spPr>
        <p:txBody>
          <a:bodyPr wrap="square" rtlCol="0" anchor="ctr"/>
          <a:lstStyle/>
          <a:p>
            <a:pPr marL="0" indent="0">
              <a:buNone/>
            </a:pPr>
            <a:r>
              <a:rPr lang="en-US" sz="1300" b="1" dirty="0">
                <a:solidFill>
                  <a:srgbClr val="F5A623"/>
                </a:solidFill>
                <a:latin typeface="Calibri" panose="020F0502020204030204" pitchFamily="34" charset="0"/>
                <a:ea typeface="Calibri" panose="020F0502020204030204" pitchFamily="34" charset="-122"/>
                <a:cs typeface="Calibri" panose="020F0502020204030204" pitchFamily="34" charset="-120"/>
              </a:rPr>
              <a:t>ANALYZE</a:t>
            </a:r>
            <a:endParaRPr lang="en-US" sz="1300" dirty="0"/>
          </a:p>
        </p:txBody>
      </p:sp>
      <p:sp>
        <p:nvSpPr>
          <p:cNvPr id="30" name="Text 28"/>
          <p:cNvSpPr/>
          <p:nvPr>
            <p:custDataLst>
              <p:tags r:id="rId25"/>
            </p:custDataLst>
          </p:nvPr>
        </p:nvSpPr>
        <p:spPr>
          <a:xfrm>
            <a:off x="804672" y="3950208"/>
            <a:ext cx="3547872" cy="566928"/>
          </a:xfrm>
          <a:prstGeom prst="rect">
            <a:avLst/>
          </a:prstGeom>
          <a:noFill/>
        </p:spPr>
        <p:txBody>
          <a:bodyPr wrap="square" rtlCol="0" anchor="t"/>
          <a:lstStyle/>
          <a:p>
            <a:pPr marL="0" indent="0" algn="just">
              <a:buNone/>
            </a:pPr>
            <a:r>
              <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rPr>
              <a:t>Produce multiple unique analytical plots across demographics, geography, and numerics</a:t>
            </a:r>
            <a:endPar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custDataLst>
              <p:tags r:id="rId26"/>
            </p:custDataLst>
          </p:nvPr>
        </p:nvSpPr>
        <p:spPr>
          <a:xfrm>
            <a:off x="4663440" y="3511296"/>
            <a:ext cx="4251960" cy="1078992"/>
          </a:xfrm>
          <a:prstGeom prst="rect">
            <a:avLst/>
          </a:prstGeom>
          <a:solidFill>
            <a:srgbClr val="112233"/>
          </a:solidFill>
          <a:ln w="12700">
            <a:solidFill>
              <a:srgbClr val="E74C3C"/>
            </a:solidFill>
            <a:prstDash val="solid"/>
          </a:ln>
        </p:spPr>
      </p:sp>
      <p:sp>
        <p:nvSpPr>
          <p:cNvPr id="32" name="Shape 30"/>
          <p:cNvSpPr/>
          <p:nvPr>
            <p:custDataLst>
              <p:tags r:id="rId27"/>
            </p:custDataLst>
          </p:nvPr>
        </p:nvSpPr>
        <p:spPr>
          <a:xfrm>
            <a:off x="4773168" y="3785616"/>
            <a:ext cx="402336" cy="402336"/>
          </a:xfrm>
          <a:prstGeom prst="ellipse">
            <a:avLst/>
          </a:prstGeom>
          <a:solidFill>
            <a:srgbClr val="E74C3C"/>
          </a:solidFill>
          <a:ln w="12700">
            <a:solidFill>
              <a:srgbClr val="E74C3C"/>
            </a:solidFill>
            <a:prstDash val="solid"/>
          </a:ln>
        </p:spPr>
      </p:sp>
      <p:sp>
        <p:nvSpPr>
          <p:cNvPr id="33" name="Text 31"/>
          <p:cNvSpPr/>
          <p:nvPr>
            <p:custDataLst>
              <p:tags r:id="rId28"/>
            </p:custDataLst>
          </p:nvPr>
        </p:nvSpPr>
        <p:spPr>
          <a:xfrm>
            <a:off x="4773168" y="3785616"/>
            <a:ext cx="402336" cy="402336"/>
          </a:xfrm>
          <a:prstGeom prst="rect">
            <a:avLst/>
          </a:prstGeom>
          <a:noFill/>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4" name="Text 32"/>
          <p:cNvSpPr/>
          <p:nvPr>
            <p:custDataLst>
              <p:tags r:id="rId29"/>
            </p:custDataLst>
          </p:nvPr>
        </p:nvSpPr>
        <p:spPr>
          <a:xfrm>
            <a:off x="5266944" y="3584448"/>
            <a:ext cx="3547872" cy="365760"/>
          </a:xfrm>
          <a:prstGeom prst="rect">
            <a:avLst/>
          </a:prstGeom>
          <a:noFill/>
        </p:spPr>
        <p:txBody>
          <a:bodyPr wrap="square" rtlCol="0" anchor="ctr"/>
          <a:lstStyle/>
          <a:p>
            <a:pPr marL="0" indent="0">
              <a:buNone/>
            </a:pPr>
            <a:r>
              <a:rPr lang="en-US" sz="1300" b="1" dirty="0">
                <a:solidFill>
                  <a:srgbClr val="E74C3C"/>
                </a:solidFill>
                <a:latin typeface="Calibri" panose="020F0502020204030204" pitchFamily="34" charset="0"/>
                <a:ea typeface="Calibri" panose="020F0502020204030204" pitchFamily="34" charset="-122"/>
                <a:cs typeface="Calibri" panose="020F0502020204030204" pitchFamily="34" charset="-120"/>
              </a:rPr>
              <a:t>BENCHMARK</a:t>
            </a:r>
            <a:endParaRPr lang="en-US" sz="1300" dirty="0"/>
          </a:p>
        </p:txBody>
      </p:sp>
      <p:sp>
        <p:nvSpPr>
          <p:cNvPr id="35" name="Text 33"/>
          <p:cNvSpPr/>
          <p:nvPr>
            <p:custDataLst>
              <p:tags r:id="rId30"/>
            </p:custDataLst>
          </p:nvPr>
        </p:nvSpPr>
        <p:spPr>
          <a:xfrm>
            <a:off x="5266944" y="3950208"/>
            <a:ext cx="3547872" cy="566928"/>
          </a:xfrm>
          <a:prstGeom prst="rect">
            <a:avLst/>
          </a:prstGeom>
          <a:noFill/>
        </p:spPr>
        <p:txBody>
          <a:bodyPr wrap="square" rtlCol="0" anchor="t"/>
          <a:lstStyle/>
          <a:p>
            <a:pPr marL="0" indent="0" algn="just">
              <a:buNone/>
            </a:pPr>
            <a:r>
              <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rPr>
              <a:t>Measure execution time: Spark DataFrame vs Spark SQL vs pure Python CSV scan</a:t>
            </a:r>
            <a:endParaRPr lang="en-US" sz="12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Shape 34"/>
          <p:cNvSpPr/>
          <p:nvPr/>
        </p:nvSpPr>
        <p:spPr>
          <a:xfrm>
            <a:off x="182880" y="4681728"/>
            <a:ext cx="8778240" cy="384048"/>
          </a:xfrm>
          <a:prstGeom prst="rect">
            <a:avLst/>
          </a:prstGeom>
          <a:solidFill>
            <a:srgbClr val="0A2540"/>
          </a:solidFill>
          <a:ln w="9525">
            <a:solidFill>
              <a:srgbClr val="1E90FF"/>
            </a:solidFill>
            <a:prstDash val="solid"/>
          </a:ln>
        </p:spPr>
      </p:sp>
      <p:sp>
        <p:nvSpPr>
          <p:cNvPr id="37" name="Text 35"/>
          <p:cNvSpPr/>
          <p:nvPr/>
        </p:nvSpPr>
        <p:spPr>
          <a:xfrm>
            <a:off x="274320" y="4681728"/>
            <a:ext cx="8595360" cy="384048"/>
          </a:xfrm>
          <a:prstGeom prst="rect">
            <a:avLst/>
          </a:prstGeom>
          <a:noFill/>
        </p:spPr>
        <p:txBody>
          <a:bodyPr wrap="square" rtlCol="0" anchor="ctr"/>
          <a:lstStyle/>
          <a:p>
            <a:pPr marL="0" indent="0" algn="ctr">
              <a:buNone/>
            </a:pPr>
            <a:r>
              <a:rPr lang="en-US" sz="1000" i="1" dirty="0">
                <a:solidFill>
                  <a:srgbClr val="8FA8C8"/>
                </a:solidFill>
                <a:latin typeface="Calibri" panose="020F0502020204030204" pitchFamily="34" charset="0"/>
                <a:ea typeface="Calibri" panose="020F0502020204030204" pitchFamily="34" charset="-122"/>
                <a:cs typeface="Calibri" panose="020F0502020204030204" pitchFamily="34" charset="-120"/>
              </a:rPr>
              <a:t>Key emphasis: correctness-first approach — every phase validated before proceeding to the next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9B59B6"/>
          </a:solidFill>
          <a:ln w="12700">
            <a:solidFill>
              <a:srgbClr val="9B59B6"/>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Functional Programming Transformations</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9B59B6"/>
                </a:solidFill>
                <a:latin typeface="Calibri" panose="020F0502020204030204" pitchFamily="34" charset="0"/>
                <a:ea typeface="Calibri" panose="020F0502020204030204" pitchFamily="34" charset="-122"/>
                <a:cs typeface="Calibri" panose="020F0502020204030204" pitchFamily="34" charset="-120"/>
              </a:rPr>
              <a:t>Section 4.2B · Map / Filter / GroupBy / Reduce</a:t>
            </a:r>
            <a:endParaRPr lang="en-US" sz="1000" dirty="0"/>
          </a:p>
        </p:txBody>
      </p:sp>
      <p:sp>
        <p:nvSpPr>
          <p:cNvPr id="6" name="Shape 4"/>
          <p:cNvSpPr/>
          <p:nvPr/>
        </p:nvSpPr>
        <p:spPr>
          <a:xfrm>
            <a:off x="201168" y="1005840"/>
            <a:ext cx="8741664" cy="841248"/>
          </a:xfrm>
          <a:prstGeom prst="rect">
            <a:avLst/>
          </a:prstGeom>
          <a:solidFill>
            <a:srgbClr val="112233"/>
          </a:solidFill>
          <a:ln w="12700">
            <a:solidFill>
              <a:srgbClr val="1E90FF"/>
            </a:solidFill>
            <a:prstDash val="solid"/>
          </a:ln>
        </p:spPr>
      </p:sp>
      <p:sp>
        <p:nvSpPr>
          <p:cNvPr id="7" name="Shape 5"/>
          <p:cNvSpPr/>
          <p:nvPr/>
        </p:nvSpPr>
        <p:spPr>
          <a:xfrm>
            <a:off x="201168" y="1005840"/>
            <a:ext cx="1115568" cy="841248"/>
          </a:xfrm>
          <a:prstGeom prst="rect">
            <a:avLst/>
          </a:prstGeom>
          <a:solidFill>
            <a:srgbClr val="1E90FF"/>
          </a:solidFill>
          <a:ln w="12700">
            <a:solidFill>
              <a:srgbClr val="1E90FF"/>
            </a:solidFill>
            <a:prstDash val="solid"/>
          </a:ln>
        </p:spPr>
      </p:sp>
      <p:sp>
        <p:nvSpPr>
          <p:cNvPr id="8" name="Text 6"/>
          <p:cNvSpPr/>
          <p:nvPr/>
        </p:nvSpPr>
        <p:spPr>
          <a:xfrm>
            <a:off x="201168" y="1005840"/>
            <a:ext cx="1115568" cy="841248"/>
          </a:xfrm>
          <a:prstGeom prst="rect">
            <a:avLst/>
          </a:prstGeom>
          <a:noFill/>
        </p:spPr>
        <p:txBody>
          <a:bodyPr wrap="square" lIns="0" tIns="0" rIns="0" bIns="0" rtlCol="0" anchor="ctr"/>
          <a:lstStyle/>
          <a:p>
            <a:pPr marL="0" indent="0" algn="ctr">
              <a:buNone/>
            </a:pPr>
            <a:r>
              <a:rPr lang="en-US" sz="13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map()</a:t>
            </a:r>
            <a:endParaRPr lang="en-US" sz="1300" dirty="0"/>
          </a:p>
        </p:txBody>
      </p:sp>
      <p:sp>
        <p:nvSpPr>
          <p:cNvPr id="9" name="Text 7"/>
          <p:cNvSpPr/>
          <p:nvPr/>
        </p:nvSpPr>
        <p:spPr>
          <a:xfrm>
            <a:off x="1408176" y="1042416"/>
            <a:ext cx="4206240" cy="47548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withColumn + when/otherwise maps raw connectivity codes (1 or 2) to readable labels — applied to every row in the DataFrame</a:t>
            </a:r>
            <a:endParaRPr lang="en-US" sz="1050" dirty="0"/>
          </a:p>
        </p:txBody>
      </p:sp>
      <p:sp>
        <p:nvSpPr>
          <p:cNvPr id="10" name="Text 8"/>
          <p:cNvSpPr/>
          <p:nvPr/>
        </p:nvSpPr>
        <p:spPr>
          <a:xfrm>
            <a:off x="1408176" y="1499616"/>
            <a:ext cx="7406640" cy="310896"/>
          </a:xfrm>
          <a:prstGeom prst="rect">
            <a:avLst/>
          </a:prstGeom>
          <a:noFill/>
        </p:spPr>
        <p:txBody>
          <a:bodyPr wrap="square" rtlCol="0" anchor="ctr"/>
          <a:lstStyle/>
          <a:p>
            <a:pPr marL="0" indent="0">
              <a:buNone/>
            </a:pPr>
            <a:r>
              <a:rPr lang="en-US" sz="950" dirty="0">
                <a:solidFill>
                  <a:srgbClr val="00C9A7"/>
                </a:solidFill>
                <a:latin typeface="Consolas" panose="020B0609020204030204" pitchFamily="34" charset="0"/>
                <a:ea typeface="Consolas" panose="020B0609020204030204" pitchFamily="34" charset="-122"/>
                <a:cs typeface="Consolas" panose="020B0609020204030204" pitchFamily="34" charset="-120"/>
              </a:rPr>
              <a:t>df.withColumn('connection_status', when(col==1,'Connected').otherwise('Not Connected'))</a:t>
            </a:r>
            <a:endParaRPr lang="en-US" sz="950" dirty="0"/>
          </a:p>
        </p:txBody>
      </p:sp>
      <p:sp>
        <p:nvSpPr>
          <p:cNvPr id="11" name="Shape 9"/>
          <p:cNvSpPr/>
          <p:nvPr/>
        </p:nvSpPr>
        <p:spPr>
          <a:xfrm>
            <a:off x="201168" y="1965960"/>
            <a:ext cx="8741664" cy="841248"/>
          </a:xfrm>
          <a:prstGeom prst="rect">
            <a:avLst/>
          </a:prstGeom>
          <a:solidFill>
            <a:srgbClr val="112233"/>
          </a:solidFill>
          <a:ln w="12700">
            <a:solidFill>
              <a:srgbClr val="FF6B35"/>
            </a:solidFill>
            <a:prstDash val="solid"/>
          </a:ln>
        </p:spPr>
      </p:sp>
      <p:sp>
        <p:nvSpPr>
          <p:cNvPr id="12" name="Shape 10"/>
          <p:cNvSpPr/>
          <p:nvPr/>
        </p:nvSpPr>
        <p:spPr>
          <a:xfrm>
            <a:off x="201168" y="1965960"/>
            <a:ext cx="1115568" cy="841248"/>
          </a:xfrm>
          <a:prstGeom prst="rect">
            <a:avLst/>
          </a:prstGeom>
          <a:solidFill>
            <a:srgbClr val="FF6B35"/>
          </a:solidFill>
          <a:ln w="12700">
            <a:solidFill>
              <a:srgbClr val="FF6B35"/>
            </a:solidFill>
            <a:prstDash val="solid"/>
          </a:ln>
        </p:spPr>
      </p:sp>
      <p:sp>
        <p:nvSpPr>
          <p:cNvPr id="13" name="Text 11"/>
          <p:cNvSpPr/>
          <p:nvPr/>
        </p:nvSpPr>
        <p:spPr>
          <a:xfrm>
            <a:off x="201168" y="1965960"/>
            <a:ext cx="1115568" cy="841248"/>
          </a:xfrm>
          <a:prstGeom prst="rect">
            <a:avLst/>
          </a:prstGeom>
          <a:noFill/>
        </p:spPr>
        <p:txBody>
          <a:bodyPr wrap="square" lIns="0" tIns="0" rIns="0" bIns="0" rtlCol="0" anchor="ctr"/>
          <a:lstStyle/>
          <a:p>
            <a:pPr marL="0" indent="0" algn="ctr">
              <a:buNone/>
            </a:pPr>
            <a:r>
              <a:rPr lang="en-US" sz="13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filter()</a:t>
            </a:r>
            <a:endParaRPr lang="en-US" sz="1300" dirty="0"/>
          </a:p>
        </p:txBody>
      </p:sp>
      <p:sp>
        <p:nvSpPr>
          <p:cNvPr id="14" name="Text 12"/>
          <p:cNvSpPr/>
          <p:nvPr/>
        </p:nvSpPr>
        <p:spPr>
          <a:xfrm>
            <a:off x="1408176" y="2002536"/>
            <a:ext cx="4206240" cy="47548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.filter() removes rows where labels are empty, null, or 'UNKNOWN' — ensuring only high-quality data enters analytics</a:t>
            </a:r>
            <a:endParaRPr lang="en-US" sz="1050" dirty="0"/>
          </a:p>
        </p:txBody>
      </p:sp>
      <p:sp>
        <p:nvSpPr>
          <p:cNvPr id="15" name="Text 13"/>
          <p:cNvSpPr/>
          <p:nvPr/>
        </p:nvSpPr>
        <p:spPr>
          <a:xfrm>
            <a:off x="1408176" y="2459736"/>
            <a:ext cx="7406640" cy="310896"/>
          </a:xfrm>
          <a:prstGeom prst="rect">
            <a:avLst/>
          </a:prstGeom>
          <a:noFill/>
        </p:spPr>
        <p:txBody>
          <a:bodyPr wrap="square" rtlCol="0" anchor="ctr"/>
          <a:lstStyle/>
          <a:p>
            <a:pPr marL="0" indent="0">
              <a:buNone/>
            </a:pPr>
            <a:r>
              <a:rPr lang="en-US" sz="950" dirty="0">
                <a:solidFill>
                  <a:srgbClr val="00C9A7"/>
                </a:solidFill>
                <a:latin typeface="Consolas" panose="020B0609020204030204" pitchFamily="34" charset="0"/>
                <a:ea typeface="Consolas" panose="020B0609020204030204" pitchFamily="34" charset="-122"/>
                <a:cs typeface="Consolas" panose="020B0609020204030204" pitchFamily="34" charset="-120"/>
              </a:rPr>
              <a:t>df.filter(col('connection_status') != 'Unknown/NA')</a:t>
            </a:r>
            <a:endParaRPr lang="en-US" sz="950" dirty="0"/>
          </a:p>
        </p:txBody>
      </p:sp>
      <p:sp>
        <p:nvSpPr>
          <p:cNvPr id="16" name="Shape 14"/>
          <p:cNvSpPr/>
          <p:nvPr/>
        </p:nvSpPr>
        <p:spPr>
          <a:xfrm>
            <a:off x="201168" y="2926080"/>
            <a:ext cx="8741664" cy="841248"/>
          </a:xfrm>
          <a:prstGeom prst="rect">
            <a:avLst/>
          </a:prstGeom>
          <a:solidFill>
            <a:srgbClr val="112233"/>
          </a:solidFill>
          <a:ln w="12700">
            <a:solidFill>
              <a:srgbClr val="00C9A7"/>
            </a:solidFill>
            <a:prstDash val="solid"/>
          </a:ln>
        </p:spPr>
      </p:sp>
      <p:sp>
        <p:nvSpPr>
          <p:cNvPr id="17" name="Shape 15"/>
          <p:cNvSpPr/>
          <p:nvPr/>
        </p:nvSpPr>
        <p:spPr>
          <a:xfrm>
            <a:off x="201168" y="2926080"/>
            <a:ext cx="1115568" cy="841248"/>
          </a:xfrm>
          <a:prstGeom prst="rect">
            <a:avLst/>
          </a:prstGeom>
          <a:solidFill>
            <a:srgbClr val="00C9A7"/>
          </a:solidFill>
          <a:ln w="12700">
            <a:solidFill>
              <a:srgbClr val="00C9A7"/>
            </a:solidFill>
            <a:prstDash val="solid"/>
          </a:ln>
        </p:spPr>
      </p:sp>
      <p:sp>
        <p:nvSpPr>
          <p:cNvPr id="18" name="Text 16"/>
          <p:cNvSpPr/>
          <p:nvPr/>
        </p:nvSpPr>
        <p:spPr>
          <a:xfrm>
            <a:off x="201168" y="2926080"/>
            <a:ext cx="1115568" cy="841248"/>
          </a:xfrm>
          <a:prstGeom prst="rect">
            <a:avLst/>
          </a:prstGeom>
          <a:noFill/>
        </p:spPr>
        <p:txBody>
          <a:bodyPr wrap="square" lIns="0" tIns="0" rIns="0" bIns="0" rtlCol="0" anchor="ctr"/>
          <a:lstStyle/>
          <a:p>
            <a:pPr marL="0" indent="0" algn="ctr">
              <a:buNone/>
            </a:pPr>
            <a:r>
              <a:rPr lang="en-US" sz="13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groupBy()</a:t>
            </a:r>
            <a:endParaRPr lang="en-US" sz="1300" dirty="0"/>
          </a:p>
        </p:txBody>
      </p:sp>
      <p:sp>
        <p:nvSpPr>
          <p:cNvPr id="19" name="Text 17"/>
          <p:cNvSpPr/>
          <p:nvPr/>
        </p:nvSpPr>
        <p:spPr>
          <a:xfrm>
            <a:off x="1408176" y="2962656"/>
            <a:ext cx="4206240" cy="47548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.groupBy('region') or .groupBy('connection_status') groups related rows for aggregation — equivalent to SQL GROUP BY</a:t>
            </a:r>
            <a:endParaRPr lang="en-US" sz="1050" dirty="0"/>
          </a:p>
        </p:txBody>
      </p:sp>
      <p:sp>
        <p:nvSpPr>
          <p:cNvPr id="20" name="Text 18"/>
          <p:cNvSpPr/>
          <p:nvPr/>
        </p:nvSpPr>
        <p:spPr>
          <a:xfrm>
            <a:off x="1408176" y="3419856"/>
            <a:ext cx="7406640" cy="310896"/>
          </a:xfrm>
          <a:prstGeom prst="rect">
            <a:avLst/>
          </a:prstGeom>
          <a:noFill/>
        </p:spPr>
        <p:txBody>
          <a:bodyPr wrap="square" rtlCol="0" anchor="ctr"/>
          <a:lstStyle/>
          <a:p>
            <a:pPr marL="0" indent="0">
              <a:buNone/>
            </a:pPr>
            <a:r>
              <a:rPr lang="en-US" sz="950" dirty="0">
                <a:solidFill>
                  <a:srgbClr val="00C9A7"/>
                </a:solidFill>
                <a:latin typeface="Consolas" panose="020B0609020204030204" pitchFamily="34" charset="0"/>
                <a:ea typeface="Consolas" panose="020B0609020204030204" pitchFamily="34" charset="-122"/>
                <a:cs typeface="Consolas" panose="020B0609020204030204" pitchFamily="34" charset="-120"/>
              </a:rPr>
              <a:t>df.groupBy('region').agg(F.sum('is_connected').alias('count'))</a:t>
            </a:r>
            <a:endParaRPr lang="en-US" sz="950" dirty="0"/>
          </a:p>
        </p:txBody>
      </p:sp>
      <p:sp>
        <p:nvSpPr>
          <p:cNvPr id="21" name="Shape 19"/>
          <p:cNvSpPr/>
          <p:nvPr/>
        </p:nvSpPr>
        <p:spPr>
          <a:xfrm>
            <a:off x="201168" y="3886200"/>
            <a:ext cx="8741664" cy="841248"/>
          </a:xfrm>
          <a:prstGeom prst="rect">
            <a:avLst/>
          </a:prstGeom>
          <a:solidFill>
            <a:srgbClr val="112233"/>
          </a:solidFill>
          <a:ln w="12700">
            <a:solidFill>
              <a:srgbClr val="F5A623"/>
            </a:solidFill>
            <a:prstDash val="solid"/>
          </a:ln>
        </p:spPr>
      </p:sp>
      <p:sp>
        <p:nvSpPr>
          <p:cNvPr id="22" name="Shape 20"/>
          <p:cNvSpPr/>
          <p:nvPr/>
        </p:nvSpPr>
        <p:spPr>
          <a:xfrm>
            <a:off x="201168" y="3886200"/>
            <a:ext cx="1115568" cy="841248"/>
          </a:xfrm>
          <a:prstGeom prst="rect">
            <a:avLst/>
          </a:prstGeom>
          <a:solidFill>
            <a:srgbClr val="F5A623"/>
          </a:solidFill>
          <a:ln w="12700">
            <a:solidFill>
              <a:srgbClr val="F5A623"/>
            </a:solidFill>
            <a:prstDash val="solid"/>
          </a:ln>
        </p:spPr>
      </p:sp>
      <p:sp>
        <p:nvSpPr>
          <p:cNvPr id="23" name="Text 21"/>
          <p:cNvSpPr/>
          <p:nvPr/>
        </p:nvSpPr>
        <p:spPr>
          <a:xfrm>
            <a:off x="201168" y="3886200"/>
            <a:ext cx="1115568" cy="841248"/>
          </a:xfrm>
          <a:prstGeom prst="rect">
            <a:avLst/>
          </a:prstGeom>
          <a:noFill/>
        </p:spPr>
        <p:txBody>
          <a:bodyPr wrap="square" lIns="0" tIns="0" rIns="0" bIns="0" rtlCol="0" anchor="ctr"/>
          <a:lstStyle/>
          <a:p>
            <a:pPr marL="0" indent="0" algn="ctr">
              <a:buNone/>
            </a:pPr>
            <a:r>
              <a:rPr lang="en-US" sz="13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reduce()</a:t>
            </a:r>
            <a:endParaRPr lang="en-US" sz="1300" dirty="0"/>
          </a:p>
        </p:txBody>
      </p:sp>
      <p:sp>
        <p:nvSpPr>
          <p:cNvPr id="24" name="Text 22"/>
          <p:cNvSpPr/>
          <p:nvPr/>
        </p:nvSpPr>
        <p:spPr>
          <a:xfrm>
            <a:off x="1408176" y="3922776"/>
            <a:ext cx="4206240" cy="475488"/>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.count() or .agg(F.sum(...)) collapses each group into a single numeric result — e.g. total connected HHs per region</a:t>
            </a:r>
            <a:endParaRPr lang="en-US" sz="1050" dirty="0"/>
          </a:p>
        </p:txBody>
      </p:sp>
      <p:sp>
        <p:nvSpPr>
          <p:cNvPr id="25" name="Text 23"/>
          <p:cNvSpPr/>
          <p:nvPr/>
        </p:nvSpPr>
        <p:spPr>
          <a:xfrm>
            <a:off x="1408176" y="4379976"/>
            <a:ext cx="7406640" cy="310896"/>
          </a:xfrm>
          <a:prstGeom prst="rect">
            <a:avLst/>
          </a:prstGeom>
          <a:noFill/>
        </p:spPr>
        <p:txBody>
          <a:bodyPr wrap="square" rtlCol="0" anchor="ctr"/>
          <a:lstStyle/>
          <a:p>
            <a:pPr marL="0" indent="0">
              <a:buNone/>
            </a:pPr>
            <a:r>
              <a:rPr lang="en-US" sz="950" dirty="0">
                <a:solidFill>
                  <a:srgbClr val="00C9A7"/>
                </a:solidFill>
                <a:latin typeface="Consolas" panose="020B0609020204030204" pitchFamily="34" charset="0"/>
                <a:ea typeface="Consolas" panose="020B0609020204030204" pitchFamily="34" charset="-122"/>
                <a:cs typeface="Consolas" panose="020B0609020204030204" pitchFamily="34" charset="-120"/>
              </a:rPr>
              <a:t>df.agg(F.sum('count').alias('total_connected')).collect()[0]</a:t>
            </a:r>
            <a:endParaRPr lang="en-US" sz="950" dirty="0"/>
          </a:p>
        </p:txBody>
      </p:sp>
      <p:sp>
        <p:nvSpPr>
          <p:cNvPr id="26" name="Shape 24"/>
          <p:cNvSpPr/>
          <p:nvPr/>
        </p:nvSpPr>
        <p:spPr>
          <a:xfrm>
            <a:off x="182880" y="4681728"/>
            <a:ext cx="8778240" cy="384048"/>
          </a:xfrm>
          <a:prstGeom prst="rect">
            <a:avLst/>
          </a:prstGeom>
          <a:solidFill>
            <a:srgbClr val="0A2540"/>
          </a:solidFill>
          <a:ln w="9525">
            <a:solidFill>
              <a:srgbClr val="9B59B6"/>
            </a:solidFill>
            <a:prstDash val="solid"/>
          </a:ln>
        </p:spPr>
      </p:sp>
      <p:sp>
        <p:nvSpPr>
          <p:cNvPr id="27" name="Text 25"/>
          <p:cNvSpPr/>
          <p:nvPr/>
        </p:nvSpPr>
        <p:spPr>
          <a:xfrm>
            <a:off x="274320" y="4681728"/>
            <a:ext cx="8595360" cy="384048"/>
          </a:xfrm>
          <a:prstGeom prst="rect">
            <a:avLst/>
          </a:prstGeom>
          <a:noFill/>
        </p:spPr>
        <p:txBody>
          <a:bodyPr wrap="square" rtlCol="0" anchor="ctr"/>
          <a:lstStyle/>
          <a:p>
            <a:pPr marL="0" indent="0" algn="ctr">
              <a:buNone/>
            </a:pPr>
            <a:r>
              <a:rPr lang="en-US" sz="1000" i="1" dirty="0">
                <a:solidFill>
                  <a:srgbClr val="8FA8C8"/>
                </a:solidFill>
                <a:latin typeface="Calibri" panose="020F0502020204030204" pitchFamily="34" charset="0"/>
                <a:ea typeface="Calibri" panose="020F0502020204030204" pitchFamily="34" charset="-122"/>
                <a:cs typeface="Calibri" panose="020F0502020204030204" pitchFamily="34" charset="-120"/>
              </a:rPr>
              <a:t>All four functional operations are performed using Spark's distributed DataFrame API — no Python workers required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E74C3C"/>
          </a:solidFill>
          <a:ln w="12700">
            <a:solidFill>
              <a:srgbClr val="E74C3C"/>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Cleaning &amp; Quality Rules</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E74C3C"/>
                </a:solidFill>
                <a:latin typeface="Calibri" panose="020F0502020204030204" pitchFamily="34" charset="0"/>
                <a:ea typeface="Calibri" panose="020F0502020204030204" pitchFamily="34" charset="-122"/>
                <a:cs typeface="Calibri" panose="020F0502020204030204" pitchFamily="34" charset="-120"/>
              </a:rPr>
              <a:t>Section 4.3 · Applied Before Any Analysis</a:t>
            </a:r>
            <a:endParaRPr lang="en-US" sz="1000" dirty="0"/>
          </a:p>
        </p:txBody>
      </p:sp>
      <p:sp>
        <p:nvSpPr>
          <p:cNvPr id="6" name="Shape 4"/>
          <p:cNvSpPr/>
          <p:nvPr/>
        </p:nvSpPr>
        <p:spPr>
          <a:xfrm>
            <a:off x="201168" y="1005840"/>
            <a:ext cx="2816352" cy="2926080"/>
          </a:xfrm>
          <a:prstGeom prst="rect">
            <a:avLst/>
          </a:prstGeom>
          <a:solidFill>
            <a:srgbClr val="112233"/>
          </a:solidFill>
          <a:ln w="12700">
            <a:solidFill>
              <a:srgbClr val="E74C3C"/>
            </a:solidFill>
            <a:prstDash val="solid"/>
          </a:ln>
        </p:spPr>
      </p:sp>
      <p:sp>
        <p:nvSpPr>
          <p:cNvPr id="7" name="Shape 5"/>
          <p:cNvSpPr/>
          <p:nvPr/>
        </p:nvSpPr>
        <p:spPr>
          <a:xfrm>
            <a:off x="201168" y="1005840"/>
            <a:ext cx="2816352" cy="347472"/>
          </a:xfrm>
          <a:prstGeom prst="rect">
            <a:avLst/>
          </a:prstGeom>
          <a:solidFill>
            <a:srgbClr val="E74C3C"/>
          </a:solidFill>
          <a:ln w="12700">
            <a:solidFill>
              <a:srgbClr val="E74C3C"/>
            </a:solidFill>
            <a:prstDash val="solid"/>
          </a:ln>
        </p:spPr>
      </p:sp>
      <p:sp>
        <p:nvSpPr>
          <p:cNvPr id="8" name="Text 6"/>
          <p:cNvSpPr/>
          <p:nvPr/>
        </p:nvSpPr>
        <p:spPr>
          <a:xfrm>
            <a:off x="201168" y="1005840"/>
            <a:ext cx="281635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Category Columns</a:t>
            </a:r>
            <a:endParaRPr lang="en-US" sz="1100" dirty="0"/>
          </a:p>
        </p:txBody>
      </p:sp>
      <p:sp>
        <p:nvSpPr>
          <p:cNvPr id="9" name="Text 7"/>
          <p:cNvSpPr/>
          <p:nvPr/>
        </p:nvSpPr>
        <p:spPr>
          <a:xfrm>
            <a:off x="292608" y="1426464"/>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Remove null values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292608" y="1993392"/>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Remove empty strings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292608" y="2560320"/>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Remove literal 'UNKNOWN' entries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292608" y="3127248"/>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Applied to: Region, District, Cultural Belt, Gender, SEC, Housing Type, Area Type</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3172968" y="1005840"/>
            <a:ext cx="2816352" cy="2926080"/>
          </a:xfrm>
          <a:prstGeom prst="rect">
            <a:avLst/>
          </a:prstGeom>
          <a:solidFill>
            <a:srgbClr val="112233"/>
          </a:solidFill>
          <a:ln w="12700">
            <a:solidFill>
              <a:srgbClr val="F5A623"/>
            </a:solidFill>
            <a:prstDash val="solid"/>
          </a:ln>
        </p:spPr>
      </p:sp>
      <p:sp>
        <p:nvSpPr>
          <p:cNvPr id="14" name="Shape 12"/>
          <p:cNvSpPr/>
          <p:nvPr/>
        </p:nvSpPr>
        <p:spPr>
          <a:xfrm>
            <a:off x="3172968" y="1005840"/>
            <a:ext cx="2816352" cy="347472"/>
          </a:xfrm>
          <a:prstGeom prst="rect">
            <a:avLst/>
          </a:prstGeom>
          <a:solidFill>
            <a:srgbClr val="F5A623"/>
          </a:solidFill>
          <a:ln w="12700">
            <a:solidFill>
              <a:srgbClr val="F5A623"/>
            </a:solidFill>
            <a:prstDash val="solid"/>
          </a:ln>
        </p:spPr>
      </p:sp>
      <p:sp>
        <p:nvSpPr>
          <p:cNvPr id="15" name="Text 13"/>
          <p:cNvSpPr/>
          <p:nvPr/>
        </p:nvSpPr>
        <p:spPr>
          <a:xfrm>
            <a:off x="3172968" y="1005840"/>
            <a:ext cx="2816352" cy="347472"/>
          </a:xfrm>
          <a:prstGeom prst="rect">
            <a:avLst/>
          </a:prstGeom>
          <a:noFill/>
        </p:spPr>
        <p:txBody>
          <a:bodyPr wrap="square" lIns="0" tIns="0" rIns="0" bIns="0" rtlCol="0" anchor="ctr"/>
          <a:lstStyle/>
          <a:p>
            <a:pPr marL="0" indent="0" algn="ctr">
              <a:buNone/>
            </a:pPr>
            <a:r>
              <a:rPr lang="en-US" sz="1100" b="1" dirty="0">
                <a:solidFill>
                  <a:srgbClr val="061120"/>
                </a:solidFill>
                <a:latin typeface="Calibri" panose="020F0502020204030204" pitchFamily="34" charset="0"/>
                <a:ea typeface="Calibri" panose="020F0502020204030204" pitchFamily="34" charset="-122"/>
                <a:cs typeface="Calibri" panose="020F0502020204030204" pitchFamily="34" charset="-120"/>
              </a:rPr>
              <a:t>Connection Status</a:t>
            </a:r>
            <a:endParaRPr lang="en-US" sz="1100" dirty="0"/>
          </a:p>
        </p:txBody>
      </p:sp>
      <p:sp>
        <p:nvSpPr>
          <p:cNvPr id="16" name="Text 14"/>
          <p:cNvSpPr/>
          <p:nvPr/>
        </p:nvSpPr>
        <p:spPr>
          <a:xfrm>
            <a:off x="3264408" y="1426464"/>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Map code 1 → 'Connected'</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3264408" y="1993392"/>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Map code 2 → 'Not Connected'</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3264408" y="2560320"/>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Unknown / NA → excluded from grouped analyses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3264408" y="3127248"/>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Clean labels used in all charts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6144768" y="1005840"/>
            <a:ext cx="2816352" cy="2926080"/>
          </a:xfrm>
          <a:prstGeom prst="rect">
            <a:avLst/>
          </a:prstGeom>
          <a:solidFill>
            <a:srgbClr val="112233"/>
          </a:solidFill>
          <a:ln w="12700">
            <a:solidFill>
              <a:srgbClr val="00C9A7"/>
            </a:solidFill>
            <a:prstDash val="solid"/>
          </a:ln>
        </p:spPr>
      </p:sp>
      <p:sp>
        <p:nvSpPr>
          <p:cNvPr id="21" name="Shape 19"/>
          <p:cNvSpPr/>
          <p:nvPr/>
        </p:nvSpPr>
        <p:spPr>
          <a:xfrm>
            <a:off x="6144768" y="1005840"/>
            <a:ext cx="2816352" cy="347472"/>
          </a:xfrm>
          <a:prstGeom prst="rect">
            <a:avLst/>
          </a:prstGeom>
          <a:solidFill>
            <a:srgbClr val="00C9A7"/>
          </a:solidFill>
          <a:ln w="12700">
            <a:solidFill>
              <a:srgbClr val="00C9A7"/>
            </a:solidFill>
            <a:prstDash val="solid"/>
          </a:ln>
        </p:spPr>
      </p:sp>
      <p:sp>
        <p:nvSpPr>
          <p:cNvPr id="22" name="Text 20"/>
          <p:cNvSpPr/>
          <p:nvPr/>
        </p:nvSpPr>
        <p:spPr>
          <a:xfrm>
            <a:off x="6144768" y="1005840"/>
            <a:ext cx="281635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Numeric Columns</a:t>
            </a:r>
            <a:endParaRPr lang="en-US" sz="1100" dirty="0"/>
          </a:p>
        </p:txBody>
      </p:sp>
      <p:sp>
        <p:nvSpPr>
          <p:cNvPr id="23" name="Text 21"/>
          <p:cNvSpPr/>
          <p:nvPr/>
        </p:nvSpPr>
        <p:spPr>
          <a:xfrm>
            <a:off x="6236208" y="1426464"/>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Apply safe numeric casting (safe_int / safe_float)</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6236208" y="1993392"/>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Drop null or non-numeric values before plotting</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6236208" y="2560320"/>
            <a:ext cx="2633472" cy="493776"/>
          </a:xfrm>
          <a:prstGeom prst="rect">
            <a:avLst/>
          </a:prstGeom>
          <a:noFill/>
        </p:spPr>
        <p:txBody>
          <a:bodyPr wrap="square" rtlCol="0" anchor="ctr"/>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Used for: Household size, Monthly spend, Distance to connected HH</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201168" y="4041648"/>
            <a:ext cx="8741664" cy="987552"/>
          </a:xfrm>
          <a:prstGeom prst="rect">
            <a:avLst/>
          </a:prstGeom>
          <a:solidFill>
            <a:srgbClr val="061120"/>
          </a:solidFill>
          <a:ln w="12700">
            <a:solidFill>
              <a:srgbClr val="E74C3C"/>
            </a:solidFill>
            <a:prstDash val="solid"/>
          </a:ln>
        </p:spPr>
      </p:sp>
      <p:sp>
        <p:nvSpPr>
          <p:cNvPr id="27" name="Text 25"/>
          <p:cNvSpPr/>
          <p:nvPr/>
        </p:nvSpPr>
        <p:spPr>
          <a:xfrm>
            <a:off x="320040" y="4059936"/>
            <a:ext cx="2743200" cy="329184"/>
          </a:xfrm>
          <a:prstGeom prst="rect">
            <a:avLst/>
          </a:prstGeom>
          <a:noFill/>
        </p:spPr>
        <p:txBody>
          <a:bodyPr wrap="square" rtlCol="0" anchor="ctr"/>
          <a:lstStyle/>
          <a:p>
            <a:pPr marL="0" indent="0">
              <a:buNone/>
            </a:pPr>
            <a:r>
              <a:rPr lang="en-US" sz="1200" b="1" dirty="0">
                <a:solidFill>
                  <a:srgbClr val="E74C3C"/>
                </a:solidFill>
                <a:latin typeface="Calibri" panose="020F0502020204030204" pitchFamily="34" charset="0"/>
                <a:ea typeface="Calibri" panose="020F0502020204030204" pitchFamily="34" charset="-122"/>
                <a:cs typeface="Calibri" panose="020F0502020204030204" pitchFamily="34" charset="-120"/>
              </a:rPr>
              <a:t>Why This Matters</a:t>
            </a:r>
            <a:endParaRPr lang="en-US" sz="1200" dirty="0"/>
          </a:p>
        </p:txBody>
      </p:sp>
      <p:sp>
        <p:nvSpPr>
          <p:cNvPr id="28" name="Text 26"/>
          <p:cNvSpPr/>
          <p:nvPr/>
        </p:nvSpPr>
        <p:spPr>
          <a:xfrm>
            <a:off x="320040" y="4370832"/>
            <a:ext cx="8503920" cy="621792"/>
          </a:xfrm>
          <a:prstGeom prst="rect">
            <a:avLst/>
          </a:prstGeom>
          <a:noFill/>
        </p:spPr>
        <p:txBody>
          <a:bodyPr wrap="square" rtlCol="0" anchor="t"/>
          <a:lstStyle/>
          <a:p>
            <a:pPr marL="0" indent="0">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Prevents misleading charts with duplicate or noisy category labels
• Ensures every visualization is derived from reliable, trustworthy data
• Guarantees consistent grouping keys across SQL and DataFrame analysis paths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FF6B35"/>
          </a:solidFill>
          <a:ln w="12700">
            <a:solidFill>
              <a:srgbClr val="FF6B35"/>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ETL Implementation Details</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FF6B35"/>
                </a:solidFill>
                <a:latin typeface="Calibri" panose="020F0502020204030204" pitchFamily="34" charset="0"/>
                <a:ea typeface="Calibri" panose="020F0502020204030204" pitchFamily="34" charset="-122"/>
                <a:cs typeface="Calibri" panose="020F0502020204030204" pitchFamily="34" charset="-120"/>
              </a:rPr>
              <a:t>Section 4.2 · Extract → Transform → Load</a:t>
            </a:r>
            <a:endParaRPr lang="en-US" sz="1000" dirty="0"/>
          </a:p>
        </p:txBody>
      </p:sp>
      <p:sp>
        <p:nvSpPr>
          <p:cNvPr id="6" name="Shape 4"/>
          <p:cNvSpPr/>
          <p:nvPr/>
        </p:nvSpPr>
        <p:spPr>
          <a:xfrm>
            <a:off x="201168" y="1005840"/>
            <a:ext cx="2816352" cy="3127248"/>
          </a:xfrm>
          <a:prstGeom prst="rect">
            <a:avLst/>
          </a:prstGeom>
          <a:solidFill>
            <a:srgbClr val="112233"/>
          </a:solidFill>
          <a:ln w="12700">
            <a:solidFill>
              <a:srgbClr val="1E90FF"/>
            </a:solidFill>
            <a:prstDash val="solid"/>
          </a:ln>
        </p:spPr>
      </p:sp>
      <p:sp>
        <p:nvSpPr>
          <p:cNvPr id="7" name="Shape 5"/>
          <p:cNvSpPr/>
          <p:nvPr/>
        </p:nvSpPr>
        <p:spPr>
          <a:xfrm>
            <a:off x="201168" y="1005840"/>
            <a:ext cx="2816352" cy="347472"/>
          </a:xfrm>
          <a:prstGeom prst="rect">
            <a:avLst/>
          </a:prstGeom>
          <a:solidFill>
            <a:srgbClr val="1E90FF"/>
          </a:solidFill>
          <a:ln w="12700">
            <a:solidFill>
              <a:srgbClr val="1E90FF"/>
            </a:solidFill>
            <a:prstDash val="solid"/>
          </a:ln>
        </p:spPr>
      </p:sp>
      <p:sp>
        <p:nvSpPr>
          <p:cNvPr id="8" name="Text 6"/>
          <p:cNvSpPr/>
          <p:nvPr/>
        </p:nvSpPr>
        <p:spPr>
          <a:xfrm>
            <a:off x="201168" y="1005840"/>
            <a:ext cx="281635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 EXTRACT — Source</a:t>
            </a:r>
            <a:endParaRPr lang="en-US" sz="1050" dirty="0"/>
          </a:p>
        </p:txBody>
      </p:sp>
      <p:sp>
        <p:nvSpPr>
          <p:cNvPr id="9" name="Text 7"/>
          <p:cNvSpPr/>
          <p:nvPr/>
        </p:nvSpPr>
        <p:spPr>
          <a:xfrm>
            <a:off x="292608" y="1426464"/>
            <a:ext cx="2633472" cy="457200"/>
          </a:xfrm>
          <a:prstGeom prst="rect">
            <a:avLst/>
          </a:prstGeom>
          <a:noFill/>
        </p:spPr>
        <p:txBody>
          <a:bodyPr wrap="square" rtlCol="0" anchor="ctr"/>
          <a:lstStyle/>
          <a:p>
            <a:pPr marL="0" indent="0" algn="just">
              <a:buNone/>
            </a:pPr>
            <a:r>
              <a:rPr lang="en-US" sz="1400" dirty="0">
                <a:solidFill>
                  <a:srgbClr val="F5A623"/>
                </a:solidFill>
                <a:latin typeface="Consolas" panose="020B0609020204030204" pitchFamily="34" charset="0"/>
                <a:ea typeface="Consolas" panose="020B0609020204030204" pitchFamily="34" charset="-122"/>
                <a:cs typeface="Consolas" panose="020B0609020204030204" pitchFamily="34" charset="-120"/>
              </a:rPr>
              <a:t>spark.read.option('header','true').csv(...)</a:t>
            </a:r>
            <a:endParaRPr lang="en-US" sz="1400" dirty="0">
              <a:solidFill>
                <a:srgbClr val="F5A623"/>
              </a:solidFill>
              <a:latin typeface="Consolas" panose="020B0609020204030204" pitchFamily="34" charset="0"/>
              <a:ea typeface="Consolas" panose="020B0609020204030204" pitchFamily="34" charset="-122"/>
              <a:cs typeface="Consolas" panose="020B0609020204030204" pitchFamily="34" charset="-120"/>
            </a:endParaRPr>
          </a:p>
        </p:txBody>
      </p:sp>
      <p:sp>
        <p:nvSpPr>
          <p:cNvPr id="10" name="Text 8"/>
          <p:cNvSpPr/>
          <p:nvPr/>
        </p:nvSpPr>
        <p:spPr>
          <a:xfrm>
            <a:off x="292608" y="1938528"/>
            <a:ext cx="2633472" cy="457200"/>
          </a:xfrm>
          <a:prstGeom prst="rect">
            <a:avLst/>
          </a:prstGeom>
          <a:noFill/>
        </p:spPr>
        <p:txBody>
          <a:bodyPr wrap="square" rtlCol="0" anchor="ctr"/>
          <a:lstStyle/>
          <a:p>
            <a:pPr marL="0" indent="0" algn="just">
              <a:buNone/>
            </a:pPr>
            <a:r>
              <a:rPr lang="en-US" sz="1400" dirty="0">
                <a:solidFill>
                  <a:srgbClr val="00C9A7"/>
                </a:solidFill>
                <a:latin typeface="Calibri" panose="020F0502020204030204" pitchFamily="34" charset="0"/>
                <a:ea typeface="Calibri" panose="020F0502020204030204" pitchFamily="34" charset="-122"/>
                <a:cs typeface="Calibri" panose="020F0502020204030204" pitchFamily="34" charset="-120"/>
              </a:rPr>
              <a:t>→ Raw Spark DataFrame with inferred schema</a:t>
            </a:r>
            <a:endParaRPr lang="en-US" sz="1400" dirty="0">
              <a:solidFill>
                <a:srgbClr val="00C9A7"/>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292608" y="2450592"/>
            <a:ext cx="2633472" cy="457200"/>
          </a:xfrm>
          <a:prstGeom prst="rect">
            <a:avLst/>
          </a:prstGeom>
          <a:noFill/>
        </p:spPr>
        <p:txBody>
          <a:bodyPr wrap="square" rtlCol="0" anchor="ctr"/>
          <a:lstStyle/>
          <a:p>
            <a:pPr marL="0" indent="0" algn="just">
              <a:buNone/>
            </a:pPr>
            <a:r>
              <a:rPr lang="en-US" sz="1400" dirty="0">
                <a:solidFill>
                  <a:srgbClr val="00C9A7"/>
                </a:solidFill>
                <a:latin typeface="Calibri" panose="020F0502020204030204" pitchFamily="34" charset="0"/>
                <a:ea typeface="Calibri" panose="020F0502020204030204" pitchFamily="34" charset="-122"/>
                <a:cs typeface="Calibri" panose="020F0502020204030204" pitchFamily="34" charset="-120"/>
              </a:rPr>
              <a:t>→ 100+ columns captured from CSV headers</a:t>
            </a:r>
            <a:endParaRPr lang="en-US" sz="1400" dirty="0">
              <a:solidFill>
                <a:srgbClr val="00C9A7"/>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3172968" y="1005840"/>
            <a:ext cx="2816352" cy="3127248"/>
          </a:xfrm>
          <a:prstGeom prst="rect">
            <a:avLst/>
          </a:prstGeom>
          <a:solidFill>
            <a:srgbClr val="112233"/>
          </a:solidFill>
          <a:ln w="12700">
            <a:solidFill>
              <a:srgbClr val="FF6B35"/>
            </a:solidFill>
            <a:prstDash val="solid"/>
          </a:ln>
        </p:spPr>
      </p:sp>
      <p:sp>
        <p:nvSpPr>
          <p:cNvPr id="13" name="Shape 11"/>
          <p:cNvSpPr/>
          <p:nvPr/>
        </p:nvSpPr>
        <p:spPr>
          <a:xfrm>
            <a:off x="3172968" y="1005840"/>
            <a:ext cx="2816352" cy="347472"/>
          </a:xfrm>
          <a:prstGeom prst="rect">
            <a:avLst/>
          </a:prstGeom>
          <a:solidFill>
            <a:srgbClr val="FF6B35"/>
          </a:solidFill>
          <a:ln w="12700">
            <a:solidFill>
              <a:srgbClr val="FF6B35"/>
            </a:solidFill>
            <a:prstDash val="solid"/>
          </a:ln>
        </p:spPr>
      </p:sp>
      <p:sp>
        <p:nvSpPr>
          <p:cNvPr id="14" name="Text 12"/>
          <p:cNvSpPr/>
          <p:nvPr/>
        </p:nvSpPr>
        <p:spPr>
          <a:xfrm>
            <a:off x="3172968" y="1005840"/>
            <a:ext cx="281635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B. TRANSFORM — Operations</a:t>
            </a:r>
            <a:endParaRPr lang="en-US" sz="1050" dirty="0"/>
          </a:p>
        </p:txBody>
      </p:sp>
      <p:sp>
        <p:nvSpPr>
          <p:cNvPr id="15" name="Text 13"/>
          <p:cNvSpPr/>
          <p:nvPr/>
        </p:nvSpPr>
        <p:spPr>
          <a:xfrm>
            <a:off x="3264408" y="1426464"/>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F.trim() standardizes region/district labels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3264408" y="1938528"/>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.cast('int') safely converts connection codes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3264408" y="2450592"/>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when/otherwise maps 1→Connected, 2→Not Connected</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p:nvPr/>
        </p:nvSpPr>
        <p:spPr>
          <a:xfrm>
            <a:off x="3264408" y="2962656"/>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.filter() removes null, empty, UNKNOWN rows</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3264408" y="3474720"/>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.cache() applied for repeated downstream use</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6144768" y="1005840"/>
            <a:ext cx="2816352" cy="3127248"/>
          </a:xfrm>
          <a:prstGeom prst="rect">
            <a:avLst/>
          </a:prstGeom>
          <a:solidFill>
            <a:srgbClr val="112233"/>
          </a:solidFill>
          <a:ln w="12700">
            <a:solidFill>
              <a:srgbClr val="00C9A7"/>
            </a:solidFill>
            <a:prstDash val="solid"/>
          </a:ln>
        </p:spPr>
      </p:sp>
      <p:sp>
        <p:nvSpPr>
          <p:cNvPr id="21" name="Shape 19"/>
          <p:cNvSpPr/>
          <p:nvPr/>
        </p:nvSpPr>
        <p:spPr>
          <a:xfrm>
            <a:off x="6144768" y="1005840"/>
            <a:ext cx="2816352" cy="347472"/>
          </a:xfrm>
          <a:prstGeom prst="rect">
            <a:avLst/>
          </a:prstGeom>
          <a:solidFill>
            <a:srgbClr val="00C9A7"/>
          </a:solidFill>
          <a:ln w="12700">
            <a:solidFill>
              <a:srgbClr val="00C9A7"/>
            </a:solidFill>
            <a:prstDash val="solid"/>
          </a:ln>
        </p:spPr>
      </p:sp>
      <p:sp>
        <p:nvSpPr>
          <p:cNvPr id="22" name="Text 20"/>
          <p:cNvSpPr/>
          <p:nvPr/>
        </p:nvSpPr>
        <p:spPr>
          <a:xfrm>
            <a:off x="6144768" y="1005840"/>
            <a:ext cx="281635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C. LOAD — Destination</a:t>
            </a:r>
            <a:endParaRPr lang="en-US" sz="1050" dirty="0"/>
          </a:p>
        </p:txBody>
      </p:sp>
      <p:sp>
        <p:nvSpPr>
          <p:cNvPr id="23" name="Text 21"/>
          <p:cNvSpPr/>
          <p:nvPr/>
        </p:nvSpPr>
        <p:spPr>
          <a:xfrm>
            <a:off x="6236208" y="1426464"/>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df.collect() then write via Python csv.writer</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6236208" y="1938528"/>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etl_output/connected_counts_by_region.csv</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6236208" y="2450592"/>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etl_output/connected_counts_by_region.jsonl</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6236208" y="2962656"/>
            <a:ext cx="2633472" cy="457200"/>
          </a:xfrm>
          <a:prstGeom prst="rect">
            <a:avLst/>
          </a:prstGeom>
          <a:noFill/>
        </p:spPr>
        <p:txBody>
          <a:bodyPr wrap="square" rtlCol="0" anchor="ctr"/>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 Portable write strategy (no winutils needed)</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Shape 25"/>
          <p:cNvSpPr/>
          <p:nvPr/>
        </p:nvSpPr>
        <p:spPr>
          <a:xfrm>
            <a:off x="201168" y="4251960"/>
            <a:ext cx="8741664" cy="777240"/>
          </a:xfrm>
          <a:prstGeom prst="rect">
            <a:avLst/>
          </a:prstGeom>
          <a:solidFill>
            <a:srgbClr val="0A2540"/>
          </a:solidFill>
          <a:ln w="12700">
            <a:solidFill>
              <a:srgbClr val="FF6B35"/>
            </a:solidFill>
            <a:prstDash val="solid"/>
          </a:ln>
        </p:spPr>
        <p:txBody>
          <a:bodyPr/>
          <a:p>
            <a:endParaRPr lang="en-GB" altLang="en-US"/>
          </a:p>
        </p:txBody>
      </p:sp>
      <p:sp>
        <p:nvSpPr>
          <p:cNvPr id="28" name="Text 26"/>
          <p:cNvSpPr/>
          <p:nvPr/>
        </p:nvSpPr>
        <p:spPr>
          <a:xfrm>
            <a:off x="320040" y="4261104"/>
            <a:ext cx="4572000" cy="274320"/>
          </a:xfrm>
          <a:prstGeom prst="rect">
            <a:avLst/>
          </a:prstGeom>
          <a:noFill/>
        </p:spPr>
        <p:txBody>
          <a:bodyPr wrap="square" rtlCol="0" anchor="ctr"/>
          <a:lstStyle/>
          <a:p>
            <a:pPr marL="0" indent="0">
              <a:buNone/>
            </a:pPr>
            <a:r>
              <a:rPr lang="en-US" sz="1100" b="1" dirty="0">
                <a:solidFill>
                  <a:srgbClr val="FF6B35"/>
                </a:solidFill>
                <a:latin typeface="Calibri" panose="020F0502020204030204" pitchFamily="34" charset="0"/>
                <a:ea typeface="Calibri" panose="020F0502020204030204" pitchFamily="34" charset="-122"/>
                <a:cs typeface="Calibri" panose="020F0502020204030204" pitchFamily="34" charset="-120"/>
              </a:rPr>
              <a:t>📊  Actual ETL Output (from connected_counts_by_region.csv):</a:t>
            </a:r>
            <a:endParaRPr lang="en-US" sz="1100" dirty="0"/>
          </a:p>
        </p:txBody>
      </p:sp>
      <p:sp>
        <p:nvSpPr>
          <p:cNvPr id="29" name="Text 27"/>
          <p:cNvSpPr/>
          <p:nvPr/>
        </p:nvSpPr>
        <p:spPr>
          <a:xfrm>
            <a:off x="320040" y="4517136"/>
            <a:ext cx="8503920" cy="457200"/>
          </a:xfrm>
          <a:prstGeom prst="rect">
            <a:avLst/>
          </a:prstGeom>
          <a:noFill/>
        </p:spPr>
        <p:txBody>
          <a:bodyPr wrap="square" rtlCol="0" anchor="ctr"/>
          <a:lstStyle/>
          <a:p>
            <a:pPr marL="0" indent="0">
              <a:buNone/>
            </a:pP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Multan: 1,485  ·  Quetta: 1,183  ·  Karachi: 985  ·  Peshawar: 702  ·  (+ UNKNOWN: 2,656 excluded from charts)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00C9A7"/>
          </a:solidFill>
          <a:ln w="12700">
            <a:solidFill>
              <a:srgbClr val="00C9A7"/>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Validation: Spark SQL vs. DataFrame</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00C9A7"/>
                </a:solidFill>
                <a:latin typeface="Calibri" panose="020F0502020204030204" pitchFamily="34" charset="0"/>
                <a:ea typeface="Calibri" panose="020F0502020204030204" pitchFamily="34" charset="-122"/>
                <a:cs typeface="Calibri" panose="020F0502020204030204" pitchFamily="34" charset="-120"/>
              </a:rPr>
              <a:t>Section 6 · Correctness Verification</a:t>
            </a:r>
            <a:endParaRPr lang="en-US" sz="1000" dirty="0"/>
          </a:p>
        </p:txBody>
      </p:sp>
      <p:sp>
        <p:nvSpPr>
          <p:cNvPr id="6" name="Shape 4"/>
          <p:cNvSpPr/>
          <p:nvPr/>
        </p:nvSpPr>
        <p:spPr>
          <a:xfrm>
            <a:off x="201168" y="969264"/>
            <a:ext cx="8741664" cy="420624"/>
          </a:xfrm>
          <a:prstGeom prst="rect">
            <a:avLst/>
          </a:prstGeom>
          <a:solidFill>
            <a:srgbClr val="0A2540"/>
          </a:solidFill>
          <a:ln w="12700">
            <a:solidFill>
              <a:srgbClr val="00C9A7"/>
            </a:solidFill>
            <a:prstDash val="solid"/>
          </a:ln>
        </p:spPr>
      </p:sp>
      <p:sp>
        <p:nvSpPr>
          <p:cNvPr id="7" name="Text 5"/>
          <p:cNvSpPr/>
          <p:nvPr/>
        </p:nvSpPr>
        <p:spPr>
          <a:xfrm>
            <a:off x="292608" y="969264"/>
            <a:ext cx="8558784" cy="420624"/>
          </a:xfrm>
          <a:prstGeom prst="rect">
            <a:avLst/>
          </a:prstGeom>
          <a:noFill/>
        </p:spPr>
        <p:txBody>
          <a:bodyPr wrap="square" rtlCol="0" anchor="ctr"/>
          <a:lstStyle/>
          <a:p>
            <a:pPr marL="0" indent="0" algn="ctr">
              <a:buNone/>
            </a:pPr>
            <a:r>
              <a:rPr lang="en-US" sz="1100" dirty="0">
                <a:solidFill>
                  <a:srgbClr val="8FA8C8"/>
                </a:solidFill>
                <a:latin typeface="Calibri" panose="020F0502020204030204" pitchFamily="34" charset="0"/>
                <a:ea typeface="Calibri" panose="020F0502020204030204" pitchFamily="34" charset="-122"/>
                <a:cs typeface="Calibri" panose="020F0502020204030204" pitchFamily="34" charset="-120"/>
              </a:rPr>
              <a:t>Why Validate?  SQL and DataFrame methods should produce identical results — this verification guarantees correctness across both query interfaces.</a:t>
            </a:r>
            <a:endParaRPr lang="en-US" sz="1100" dirty="0"/>
          </a:p>
        </p:txBody>
      </p:sp>
      <p:sp>
        <p:nvSpPr>
          <p:cNvPr id="8" name="Shape 6"/>
          <p:cNvSpPr/>
          <p:nvPr/>
        </p:nvSpPr>
        <p:spPr>
          <a:xfrm>
            <a:off x="201168" y="1499616"/>
            <a:ext cx="4251960" cy="2267712"/>
          </a:xfrm>
          <a:prstGeom prst="rect">
            <a:avLst/>
          </a:prstGeom>
          <a:solidFill>
            <a:srgbClr val="112233"/>
          </a:solidFill>
          <a:ln w="12700">
            <a:solidFill>
              <a:srgbClr val="1E90FF"/>
            </a:solidFill>
            <a:prstDash val="solid"/>
          </a:ln>
        </p:spPr>
      </p:sp>
      <p:sp>
        <p:nvSpPr>
          <p:cNvPr id="9" name="Shape 7"/>
          <p:cNvSpPr/>
          <p:nvPr/>
        </p:nvSpPr>
        <p:spPr>
          <a:xfrm>
            <a:off x="201168" y="1499616"/>
            <a:ext cx="4251960" cy="329184"/>
          </a:xfrm>
          <a:prstGeom prst="rect">
            <a:avLst/>
          </a:prstGeom>
          <a:solidFill>
            <a:srgbClr val="1E90FF"/>
          </a:solidFill>
          <a:ln w="12700">
            <a:solidFill>
              <a:srgbClr val="1E90FF"/>
            </a:solidFill>
            <a:prstDash val="solid"/>
          </a:ln>
        </p:spPr>
      </p:sp>
      <p:sp>
        <p:nvSpPr>
          <p:cNvPr id="10" name="Text 8"/>
          <p:cNvSpPr/>
          <p:nvPr/>
        </p:nvSpPr>
        <p:spPr>
          <a:xfrm>
            <a:off x="201168" y="1499616"/>
            <a:ext cx="4251960"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Spark SQL Approach</a:t>
            </a:r>
            <a:endParaRPr lang="en-US" sz="1200" dirty="0"/>
          </a:p>
        </p:txBody>
      </p:sp>
      <p:sp>
        <p:nvSpPr>
          <p:cNvPr id="11" name="Text 9"/>
          <p:cNvSpPr/>
          <p:nvPr/>
        </p:nvSpPr>
        <p:spPr>
          <a:xfrm>
            <a:off x="310896" y="1901952"/>
            <a:ext cx="4041648" cy="310896"/>
          </a:xfrm>
          <a:prstGeom prst="rect">
            <a:avLst/>
          </a:prstGeom>
          <a:noFill/>
        </p:spPr>
        <p:txBody>
          <a:bodyPr wrap="square" rtlCol="0" anchor="ctr"/>
          <a:lstStyle/>
          <a:p>
            <a:pPr marL="0" indent="0">
              <a:buNone/>
            </a:pP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Register temp view:  energy_etl</a:t>
            </a:r>
            <a:endParaRPr lang="en-US" sz="1050" dirty="0"/>
          </a:p>
        </p:txBody>
      </p:sp>
      <p:sp>
        <p:nvSpPr>
          <p:cNvPr id="12" name="Text 10"/>
          <p:cNvSpPr/>
          <p:nvPr/>
        </p:nvSpPr>
        <p:spPr>
          <a:xfrm>
            <a:off x="310896" y="2249424"/>
            <a:ext cx="4041648" cy="310896"/>
          </a:xfrm>
          <a:prstGeom prst="rect">
            <a:avLst/>
          </a:prstGeom>
          <a:noFill/>
        </p:spPr>
        <p:txBody>
          <a:bodyPr wrap="square" rtlCol="0" anchor="ctr"/>
          <a:lstStyle/>
          <a:p>
            <a:pPr marL="0" indent="0">
              <a:buNone/>
            </a:pPr>
            <a:r>
              <a:rPr lang="en-US" sz="1050" dirty="0">
                <a:solidFill>
                  <a:srgbClr val="00C9A7"/>
                </a:solidFill>
                <a:latin typeface="Consolas" panose="020B0609020204030204" pitchFamily="34" charset="0"/>
                <a:ea typeface="Consolas" panose="020B0609020204030204" pitchFamily="34" charset="-122"/>
                <a:cs typeface="Consolas" panose="020B0609020204030204" pitchFamily="34" charset="-120"/>
              </a:rPr>
              <a:t>SELECT region, COUNT(*) AS count</a:t>
            </a:r>
            <a:endParaRPr lang="en-US" sz="1050" dirty="0"/>
          </a:p>
        </p:txBody>
      </p:sp>
      <p:sp>
        <p:nvSpPr>
          <p:cNvPr id="13" name="Text 11"/>
          <p:cNvSpPr/>
          <p:nvPr/>
        </p:nvSpPr>
        <p:spPr>
          <a:xfrm>
            <a:off x="310896" y="2596896"/>
            <a:ext cx="4041648" cy="310896"/>
          </a:xfrm>
          <a:prstGeom prst="rect">
            <a:avLst/>
          </a:prstGeom>
          <a:noFill/>
        </p:spPr>
        <p:txBody>
          <a:bodyPr wrap="square" rtlCol="0" anchor="ctr"/>
          <a:lstStyle/>
          <a:p>
            <a:pPr marL="0" indent="0">
              <a:buNone/>
            </a:pPr>
            <a:r>
              <a:rPr lang="en-US" sz="1050" dirty="0">
                <a:solidFill>
                  <a:srgbClr val="00C9A7"/>
                </a:solidFill>
                <a:latin typeface="Consolas" panose="020B0609020204030204" pitchFamily="34" charset="0"/>
                <a:ea typeface="Consolas" panose="020B0609020204030204" pitchFamily="34" charset="-122"/>
                <a:cs typeface="Consolas" panose="020B0609020204030204" pitchFamily="34" charset="-120"/>
              </a:rPr>
              <a:t>FROM energy_etl</a:t>
            </a:r>
            <a:endParaRPr lang="en-US" sz="1050" dirty="0"/>
          </a:p>
        </p:txBody>
      </p:sp>
      <p:sp>
        <p:nvSpPr>
          <p:cNvPr id="14" name="Text 12"/>
          <p:cNvSpPr/>
          <p:nvPr/>
        </p:nvSpPr>
        <p:spPr>
          <a:xfrm>
            <a:off x="310896" y="2944368"/>
            <a:ext cx="4041648" cy="310896"/>
          </a:xfrm>
          <a:prstGeom prst="rect">
            <a:avLst/>
          </a:prstGeom>
          <a:noFill/>
        </p:spPr>
        <p:txBody>
          <a:bodyPr wrap="square" rtlCol="0" anchor="ctr"/>
          <a:lstStyle/>
          <a:p>
            <a:pPr marL="0" indent="0">
              <a:buNone/>
            </a:pPr>
            <a:r>
              <a:rPr lang="en-US" sz="1050" dirty="0">
                <a:solidFill>
                  <a:srgbClr val="00C9A7"/>
                </a:solidFill>
                <a:latin typeface="Consolas" panose="020B0609020204030204" pitchFamily="34" charset="0"/>
                <a:ea typeface="Consolas" panose="020B0609020204030204" pitchFamily="34" charset="-122"/>
                <a:cs typeface="Consolas" panose="020B0609020204030204" pitchFamily="34" charset="-120"/>
              </a:rPr>
              <a:t>WHERE connected_to_grid = 1</a:t>
            </a:r>
            <a:endParaRPr lang="en-US" sz="1050" dirty="0"/>
          </a:p>
        </p:txBody>
      </p:sp>
      <p:sp>
        <p:nvSpPr>
          <p:cNvPr id="15" name="Text 13"/>
          <p:cNvSpPr/>
          <p:nvPr/>
        </p:nvSpPr>
        <p:spPr>
          <a:xfrm>
            <a:off x="310896" y="3291840"/>
            <a:ext cx="4041648" cy="310896"/>
          </a:xfrm>
          <a:prstGeom prst="rect">
            <a:avLst/>
          </a:prstGeom>
          <a:noFill/>
        </p:spPr>
        <p:txBody>
          <a:bodyPr wrap="square" rtlCol="0" anchor="ctr"/>
          <a:lstStyle/>
          <a:p>
            <a:pPr marL="0" indent="0">
              <a:buNone/>
            </a:pPr>
            <a:r>
              <a:rPr lang="en-US" sz="1050" dirty="0">
                <a:solidFill>
                  <a:srgbClr val="00C9A7"/>
                </a:solidFill>
                <a:latin typeface="Consolas" panose="020B0609020204030204" pitchFamily="34" charset="0"/>
                <a:ea typeface="Consolas" panose="020B0609020204030204" pitchFamily="34" charset="-122"/>
                <a:cs typeface="Consolas" panose="020B0609020204030204" pitchFamily="34" charset="-120"/>
              </a:rPr>
              <a:t>GROUP BY region  ORDER BY count DESC</a:t>
            </a:r>
            <a:endParaRPr lang="en-US" sz="1050" dirty="0"/>
          </a:p>
        </p:txBody>
      </p:sp>
      <p:sp>
        <p:nvSpPr>
          <p:cNvPr id="16" name="Shape 14"/>
          <p:cNvSpPr/>
          <p:nvPr/>
        </p:nvSpPr>
        <p:spPr>
          <a:xfrm>
            <a:off x="4663440" y="1499616"/>
            <a:ext cx="4279392" cy="2267712"/>
          </a:xfrm>
          <a:prstGeom prst="rect">
            <a:avLst/>
          </a:prstGeom>
          <a:solidFill>
            <a:srgbClr val="112233"/>
          </a:solidFill>
          <a:ln w="12700">
            <a:solidFill>
              <a:srgbClr val="FF6B35"/>
            </a:solidFill>
            <a:prstDash val="solid"/>
          </a:ln>
        </p:spPr>
      </p:sp>
      <p:sp>
        <p:nvSpPr>
          <p:cNvPr id="17" name="Shape 15"/>
          <p:cNvSpPr/>
          <p:nvPr/>
        </p:nvSpPr>
        <p:spPr>
          <a:xfrm>
            <a:off x="4663440" y="1499616"/>
            <a:ext cx="4279392" cy="329184"/>
          </a:xfrm>
          <a:prstGeom prst="rect">
            <a:avLst/>
          </a:prstGeom>
          <a:solidFill>
            <a:srgbClr val="FF6B35"/>
          </a:solidFill>
          <a:ln w="12700">
            <a:solidFill>
              <a:srgbClr val="FF6B35"/>
            </a:solidFill>
            <a:prstDash val="solid"/>
          </a:ln>
        </p:spPr>
      </p:sp>
      <p:sp>
        <p:nvSpPr>
          <p:cNvPr id="18" name="Text 16"/>
          <p:cNvSpPr/>
          <p:nvPr/>
        </p:nvSpPr>
        <p:spPr>
          <a:xfrm>
            <a:off x="4663440" y="1499616"/>
            <a:ext cx="4279392"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DataFrame Approach</a:t>
            </a:r>
            <a:endParaRPr lang="en-US" sz="1200" dirty="0"/>
          </a:p>
        </p:txBody>
      </p:sp>
      <p:sp>
        <p:nvSpPr>
          <p:cNvPr id="19" name="Text 17"/>
          <p:cNvSpPr/>
          <p:nvPr/>
        </p:nvSpPr>
        <p:spPr>
          <a:xfrm>
            <a:off x="4773168" y="1901952"/>
            <a:ext cx="4059936" cy="310896"/>
          </a:xfrm>
          <a:prstGeom prst="rect">
            <a:avLst/>
          </a:prstGeom>
          <a:noFill/>
        </p:spPr>
        <p:txBody>
          <a:bodyPr wrap="square" rtlCol="0" anchor="ctr"/>
          <a:lstStyle/>
          <a:p>
            <a:pPr marL="0" indent="0">
              <a:buNone/>
            </a:pPr>
            <a:r>
              <a:rPr lang="en-US" sz="1050" dirty="0">
                <a:solidFill>
                  <a:srgbClr val="F5A623"/>
                </a:solidFill>
                <a:latin typeface="Consolas" panose="020B0609020204030204" pitchFamily="34" charset="0"/>
                <a:ea typeface="Consolas" panose="020B0609020204030204" pitchFamily="34" charset="-122"/>
                <a:cs typeface="Consolas" panose="020B0609020204030204" pitchFamily="34" charset="-120"/>
              </a:rPr>
              <a:t>df_etl.filter(col('connected_to_grid')==1)</a:t>
            </a:r>
            <a:endParaRPr lang="en-US" sz="1050" dirty="0"/>
          </a:p>
        </p:txBody>
      </p:sp>
      <p:sp>
        <p:nvSpPr>
          <p:cNvPr id="20" name="Text 18"/>
          <p:cNvSpPr/>
          <p:nvPr/>
        </p:nvSpPr>
        <p:spPr>
          <a:xfrm>
            <a:off x="4773168" y="2249424"/>
            <a:ext cx="4059936" cy="310896"/>
          </a:xfrm>
          <a:prstGeom prst="rect">
            <a:avLst/>
          </a:prstGeom>
          <a:noFill/>
        </p:spPr>
        <p:txBody>
          <a:bodyPr wrap="square" rtlCol="0" anchor="ctr"/>
          <a:lstStyle/>
          <a:p>
            <a:pPr marL="0" indent="0">
              <a:buNone/>
            </a:pPr>
            <a:r>
              <a:rPr lang="en-US" sz="1050" dirty="0">
                <a:solidFill>
                  <a:srgbClr val="F5A623"/>
                </a:solidFill>
                <a:latin typeface="Consolas" panose="020B0609020204030204" pitchFamily="34" charset="0"/>
                <a:ea typeface="Consolas" panose="020B0609020204030204" pitchFamily="34" charset="-122"/>
                <a:cs typeface="Consolas" panose="020B0609020204030204" pitchFamily="34" charset="-120"/>
              </a:rPr>
              <a:t>.groupBy('region')</a:t>
            </a:r>
            <a:endParaRPr lang="en-US" sz="1050" dirty="0"/>
          </a:p>
        </p:txBody>
      </p:sp>
      <p:sp>
        <p:nvSpPr>
          <p:cNvPr id="21" name="Text 19"/>
          <p:cNvSpPr/>
          <p:nvPr/>
        </p:nvSpPr>
        <p:spPr>
          <a:xfrm>
            <a:off x="4773168" y="2596896"/>
            <a:ext cx="4059936" cy="310896"/>
          </a:xfrm>
          <a:prstGeom prst="rect">
            <a:avLst/>
          </a:prstGeom>
          <a:noFill/>
        </p:spPr>
        <p:txBody>
          <a:bodyPr wrap="square" rtlCol="0" anchor="ctr"/>
          <a:lstStyle/>
          <a:p>
            <a:pPr marL="0" indent="0">
              <a:buNone/>
            </a:pPr>
            <a:r>
              <a:rPr lang="en-US" sz="1050" dirty="0">
                <a:solidFill>
                  <a:srgbClr val="F5A623"/>
                </a:solidFill>
                <a:latin typeface="Consolas" panose="020B0609020204030204" pitchFamily="34" charset="0"/>
                <a:ea typeface="Consolas" panose="020B0609020204030204" pitchFamily="34" charset="-122"/>
                <a:cs typeface="Consolas" panose="020B0609020204030204" pitchFamily="34" charset="-120"/>
              </a:rPr>
              <a:t>.count()</a:t>
            </a:r>
            <a:endParaRPr lang="en-US" sz="1050" dirty="0"/>
          </a:p>
        </p:txBody>
      </p:sp>
      <p:sp>
        <p:nvSpPr>
          <p:cNvPr id="22" name="Text 20"/>
          <p:cNvSpPr/>
          <p:nvPr/>
        </p:nvSpPr>
        <p:spPr>
          <a:xfrm>
            <a:off x="4773168" y="2944368"/>
            <a:ext cx="4059936" cy="310896"/>
          </a:xfrm>
          <a:prstGeom prst="rect">
            <a:avLst/>
          </a:prstGeom>
          <a:noFill/>
        </p:spPr>
        <p:txBody>
          <a:bodyPr wrap="square" rtlCol="0" anchor="ctr"/>
          <a:lstStyle/>
          <a:p>
            <a:pPr marL="0" indent="0">
              <a:buNone/>
            </a:pPr>
            <a:r>
              <a:rPr lang="en-US" sz="1050" dirty="0">
                <a:solidFill>
                  <a:srgbClr val="F5A623"/>
                </a:solidFill>
                <a:latin typeface="Consolas" panose="020B0609020204030204" pitchFamily="34" charset="0"/>
                <a:ea typeface="Consolas" panose="020B0609020204030204" pitchFamily="34" charset="-122"/>
                <a:cs typeface="Consolas" panose="020B0609020204030204" pitchFamily="34" charset="-120"/>
              </a:rPr>
              <a:t>.orderBy(F.desc('count'))</a:t>
            </a:r>
            <a:endParaRPr lang="en-US" sz="1050" dirty="0"/>
          </a:p>
        </p:txBody>
      </p:sp>
      <p:sp>
        <p:nvSpPr>
          <p:cNvPr id="23" name="Text 21"/>
          <p:cNvSpPr/>
          <p:nvPr/>
        </p:nvSpPr>
        <p:spPr>
          <a:xfrm>
            <a:off x="4773168" y="3291840"/>
            <a:ext cx="4059936" cy="310896"/>
          </a:xfrm>
          <a:prstGeom prst="rect">
            <a:avLst/>
          </a:prstGeom>
          <a:noFill/>
        </p:spPr>
        <p:txBody>
          <a:bodyPr wrap="square" rtlCol="0" anchor="ctr"/>
          <a:lstStyle/>
          <a:p>
            <a:pPr marL="0" indent="0">
              <a:buNone/>
            </a:pP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 Join results, compare row-by-row</a:t>
            </a:r>
            <a:endParaRPr lang="en-US" sz="1050" dirty="0"/>
          </a:p>
        </p:txBody>
      </p:sp>
      <p:sp>
        <p:nvSpPr>
          <p:cNvPr id="24" name="Shape 22"/>
          <p:cNvSpPr/>
          <p:nvPr/>
        </p:nvSpPr>
        <p:spPr>
          <a:xfrm>
            <a:off x="201168" y="3877056"/>
            <a:ext cx="8741664" cy="676656"/>
          </a:xfrm>
          <a:prstGeom prst="rect">
            <a:avLst/>
          </a:prstGeom>
          <a:solidFill>
            <a:srgbClr val="0D3B2A"/>
          </a:solidFill>
          <a:ln w="25400">
            <a:solidFill>
              <a:srgbClr val="00C851"/>
            </a:solidFill>
            <a:prstDash val="solid"/>
          </a:ln>
        </p:spPr>
      </p:sp>
      <p:sp>
        <p:nvSpPr>
          <p:cNvPr id="25" name="Text 23"/>
          <p:cNvSpPr/>
          <p:nvPr/>
        </p:nvSpPr>
        <p:spPr>
          <a:xfrm>
            <a:off x="292608" y="3877056"/>
            <a:ext cx="8558784" cy="676656"/>
          </a:xfrm>
          <a:prstGeom prst="rect">
            <a:avLst/>
          </a:prstGeom>
          <a:noFill/>
        </p:spPr>
        <p:txBody>
          <a:bodyPr wrap="square" rtlCol="0" anchor="ctr"/>
          <a:lstStyle/>
          <a:p>
            <a:pPr marL="0" indent="0" algn="ctr">
              <a:buNone/>
            </a:pPr>
            <a:r>
              <a:rPr lang="en-US" sz="1600" b="1" dirty="0">
                <a:solidFill>
                  <a:srgbClr val="00C851"/>
                </a:solidFill>
                <a:latin typeface="Calibri" panose="020F0502020204030204" pitchFamily="34" charset="0"/>
                <a:ea typeface="Calibri" panose="020F0502020204030204" pitchFamily="34" charset="-122"/>
                <a:cs typeface="Calibri" panose="020F0502020204030204" pitchFamily="34" charset="-120"/>
              </a:rPr>
              <a:t>✅  Result: ALL TESTS PASSED — Mismatch count = 0 rows between SQL and DataFrame aggregations</a:t>
            </a:r>
            <a:endParaRPr lang="en-US" sz="1600" dirty="0"/>
          </a:p>
        </p:txBody>
      </p:sp>
      <p:sp>
        <p:nvSpPr>
          <p:cNvPr id="26" name="Shape 24"/>
          <p:cNvSpPr/>
          <p:nvPr/>
        </p:nvSpPr>
        <p:spPr>
          <a:xfrm>
            <a:off x="182880" y="4681728"/>
            <a:ext cx="8778240" cy="384048"/>
          </a:xfrm>
          <a:prstGeom prst="rect">
            <a:avLst/>
          </a:prstGeom>
          <a:solidFill>
            <a:srgbClr val="0A2540"/>
          </a:solidFill>
          <a:ln w="9525">
            <a:solidFill>
              <a:srgbClr val="00C851"/>
            </a:solidFill>
            <a:prstDash val="solid"/>
          </a:ln>
        </p:spPr>
      </p:sp>
      <p:sp>
        <p:nvSpPr>
          <p:cNvPr id="27" name="Text 25"/>
          <p:cNvSpPr/>
          <p:nvPr/>
        </p:nvSpPr>
        <p:spPr>
          <a:xfrm>
            <a:off x="274320" y="4681728"/>
            <a:ext cx="8595360" cy="384048"/>
          </a:xfrm>
          <a:prstGeom prst="rect">
            <a:avLst/>
          </a:prstGeom>
          <a:noFill/>
        </p:spPr>
        <p:txBody>
          <a:bodyPr wrap="square" rtlCol="0" anchor="ctr"/>
          <a:lstStyle/>
          <a:p>
            <a:pPr marL="0" indent="0" algn="ctr">
              <a:buNone/>
            </a:pPr>
            <a:r>
              <a:rPr lang="en-US" sz="1000" i="1" dirty="0">
                <a:solidFill>
                  <a:srgbClr val="8FA8C8"/>
                </a:solidFill>
                <a:latin typeface="Calibri" panose="020F0502020204030204" pitchFamily="34" charset="0"/>
                <a:ea typeface="Calibri" panose="020F0502020204030204" pitchFamily="34" charset="-122"/>
                <a:cs typeface="Calibri" panose="020F0502020204030204" pitchFamily="34" charset="-120"/>
              </a:rPr>
              <a:t>Validation confirmed: both interfaces produce byte-for-byte identical aggregation results for all regions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p:sp>
        <p:nvSpPr>
          <p:cNvPr id="2" name="Text Box 1"/>
          <p:cNvSpPr txBox="1"/>
          <p:nvPr/>
        </p:nvSpPr>
        <p:spPr>
          <a:xfrm>
            <a:off x="394335" y="790575"/>
            <a:ext cx="8474075" cy="645160"/>
          </a:xfrm>
          <a:prstGeom prst="rect">
            <a:avLst/>
          </a:prstGeom>
          <a:noFill/>
        </p:spPr>
        <p:txBody>
          <a:bodyPr wrap="square" rtlCol="0">
            <a:spAutoFit/>
          </a:bodyPr>
          <a:p>
            <a:pPr algn="just"/>
            <a:r>
              <a:rPr lang="en-US" altLang="en-GB">
                <a:solidFill>
                  <a:schemeClr val="bg1">
                    <a:lumMod val="95000"/>
                  </a:schemeClr>
                </a:solidFill>
              </a:rPr>
              <a:t>The final benchmarking results in the notebook energy_project.ipynb provide a clear technical comparison of how these two systems handle data at different scales.</a:t>
            </a:r>
            <a:endParaRPr lang="en-US" altLang="en-GB">
              <a:solidFill>
                <a:schemeClr val="bg1">
                  <a:lumMod val="95000"/>
                </a:schemeClr>
              </a:solidFill>
            </a:endParaRPr>
          </a:p>
        </p:txBody>
      </p:sp>
      <p:sp>
        <p:nvSpPr>
          <p:cNvPr id="3" name="Text Box 2"/>
          <p:cNvSpPr txBox="1"/>
          <p:nvPr/>
        </p:nvSpPr>
        <p:spPr>
          <a:xfrm>
            <a:off x="2032000" y="2033588"/>
            <a:ext cx="5080000" cy="337185"/>
          </a:xfrm>
          <a:prstGeom prst="rect">
            <a:avLst/>
          </a:prstGeom>
        </p:spPr>
        <p:txBody>
          <a:bodyPr>
            <a:spAutoFit/>
          </a:bodyPr>
          <a:p>
            <a:pPr marL="0" indent="0" defTabSz="266700">
              <a:spcBef>
                <a:spcPct val="0"/>
              </a:spcBef>
              <a:spcAft>
                <a:spcPct val="0"/>
              </a:spcAft>
            </a:pPr>
            <a:r>
              <a:rPr lang="en-US" altLang="zh-CN" sz="1600">
                <a:solidFill>
                  <a:srgbClr val="404040"/>
                </a:solidFill>
                <a:latin typeface="Arial" panose="020B0604020202020204"/>
                <a:ea typeface="Arial" panose="020B0604020202020204"/>
              </a:rPr>
              <a:t> </a:t>
            </a:r>
            <a:endParaRPr lang="en-US" altLang="zh-CN" sz="1600">
              <a:solidFill>
                <a:srgbClr val="404040"/>
              </a:solidFill>
              <a:latin typeface="Arial" panose="020B0604020202020204"/>
              <a:ea typeface="Arial" panose="020B0604020202020204"/>
            </a:endParaRPr>
          </a:p>
        </p:txBody>
      </p:sp>
      <p:pic>
        <p:nvPicPr>
          <p:cNvPr id="4" name="Picture 1"/>
          <p:cNvPicPr>
            <a:picLocks noChangeAspect="1"/>
          </p:cNvPicPr>
          <p:nvPr/>
        </p:nvPicPr>
        <p:blipFill>
          <a:blip r:embed="rId1"/>
          <a:stretch>
            <a:fillRect/>
          </a:stretch>
        </p:blipFill>
        <p:spPr>
          <a:xfrm>
            <a:off x="410210" y="1581150"/>
            <a:ext cx="8331835" cy="3301365"/>
          </a:xfrm>
          <a:prstGeom prst="rect">
            <a:avLst/>
          </a:prstGeom>
          <a:noFill/>
          <a:ln>
            <a:noFill/>
          </a:ln>
        </p:spPr>
      </p:pic>
      <p:sp>
        <p:nvSpPr>
          <p:cNvPr id="5"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chemeClr val="bg1">
                    <a:lumMod val="95000"/>
                  </a:schemeClr>
                </a:solidFill>
                <a:latin typeface="Calibri" panose="020F0502020204030204" pitchFamily="34" charset="0"/>
                <a:ea typeface="Calibri" panose="020F0502020204030204" pitchFamily="34" charset="-122"/>
                <a:cs typeface="Calibri" panose="020F0502020204030204" pitchFamily="34" charset="-120"/>
              </a:rPr>
              <a:t>Performance Benchmarking</a:t>
            </a:r>
            <a:endParaRPr lang="en-US" sz="2800" b="1" dirty="0">
              <a:solidFill>
                <a:schemeClr val="bg1">
                  <a:lumMod val="95000"/>
                </a:schemeClr>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2" name="Text Box 1"/>
          <p:cNvSpPr txBox="1"/>
          <p:nvPr/>
        </p:nvSpPr>
        <p:spPr>
          <a:xfrm>
            <a:off x="394335" y="1388110"/>
            <a:ext cx="8474075" cy="3138170"/>
          </a:xfrm>
          <a:prstGeom prst="rect">
            <a:avLst/>
          </a:prstGeom>
          <a:noFill/>
        </p:spPr>
        <p:txBody>
          <a:bodyPr wrap="square" rtlCol="0">
            <a:spAutoFit/>
          </a:bodyPr>
          <a:p>
            <a:pPr algn="just"/>
            <a:r>
              <a:rPr lang="en-US" altLang="en-GB" b="1">
                <a:solidFill>
                  <a:schemeClr val="bg1">
                    <a:lumMod val="95000"/>
                  </a:schemeClr>
                </a:solidFill>
              </a:rPr>
              <a:t>- Zero Overhead: </a:t>
            </a:r>
            <a:r>
              <a:rPr lang="en-US" altLang="en-GB">
                <a:solidFill>
                  <a:schemeClr val="bg1">
                    <a:lumMod val="95000"/>
                  </a:schemeClr>
                </a:solidFill>
              </a:rPr>
              <a:t>Python’s csv.DictReader simply opens the file and starts reading the first line immediately.</a:t>
            </a:r>
            <a:endParaRPr lang="en-US" altLang="en-GB">
              <a:solidFill>
                <a:schemeClr val="bg1">
                  <a:lumMod val="95000"/>
                </a:schemeClr>
              </a:solidFill>
            </a:endParaRPr>
          </a:p>
          <a:p>
            <a:pPr algn="just"/>
            <a:r>
              <a:rPr lang="en-US" altLang="en-GB" b="1">
                <a:solidFill>
                  <a:schemeClr val="bg1">
                    <a:lumMod val="95000"/>
                  </a:schemeClr>
                </a:solidFill>
              </a:rPr>
              <a:t>- No Coordination Cost:</a:t>
            </a:r>
            <a:r>
              <a:rPr lang="en-US" altLang="en-GB">
                <a:solidFill>
                  <a:schemeClr val="bg1">
                    <a:lumMod val="95000"/>
                  </a:schemeClr>
                </a:solidFill>
              </a:rPr>
              <a:t> Since it is single-threaded, it doesn't have to spend time dividing the file into pieces or coordinating between different CPU cores.</a:t>
            </a:r>
            <a:endParaRPr lang="en-US" altLang="en-GB">
              <a:solidFill>
                <a:schemeClr val="bg1">
                  <a:lumMod val="95000"/>
                </a:schemeClr>
              </a:solidFill>
            </a:endParaRPr>
          </a:p>
          <a:p>
            <a:pPr algn="just"/>
            <a:r>
              <a:rPr lang="en-US" altLang="en-GB" b="1">
                <a:solidFill>
                  <a:schemeClr val="bg1">
                    <a:lumMod val="95000"/>
                  </a:schemeClr>
                </a:solidFill>
              </a:rPr>
              <a:t>- Spark's "Startup Tax":</a:t>
            </a:r>
            <a:r>
              <a:rPr lang="en-US" altLang="en-GB">
                <a:solidFill>
                  <a:schemeClr val="bg1">
                    <a:lumMod val="95000"/>
                  </a:schemeClr>
                </a:solidFill>
              </a:rPr>
              <a:t> Spark is a massive engine running on the JVM (Java Virtual Machine). Even for 1 row, Spark must check the schema, build a logical execution plan, and schedule a "task" on a worker. This setup takes about 0.5 to 0.7 seconds regardless of data size. Why Spark SQL wins at large scale:</a:t>
            </a:r>
            <a:endParaRPr lang="en-US" altLang="en-GB">
              <a:solidFill>
                <a:schemeClr val="bg1">
                  <a:lumMod val="95000"/>
                </a:schemeClr>
              </a:solidFill>
            </a:endParaRPr>
          </a:p>
          <a:p>
            <a:pPr algn="just"/>
            <a:r>
              <a:rPr lang="en-US" altLang="en-GB" b="1">
                <a:solidFill>
                  <a:schemeClr val="bg1">
                    <a:lumMod val="95000"/>
                  </a:schemeClr>
                </a:solidFill>
              </a:rPr>
              <a:t>- Parallelism: </a:t>
            </a:r>
            <a:r>
              <a:rPr lang="en-US" altLang="en-GB">
                <a:solidFill>
                  <a:schemeClr val="bg1">
                    <a:lumMod val="95000"/>
                  </a:schemeClr>
                </a:solidFill>
              </a:rPr>
              <a:t>While Python is stuck reading one row at a time on a single CPU core, Spark breaks the 8,000+ rows into partitions and processes them across all your CPU cores simultaneously .</a:t>
            </a:r>
            <a:endParaRPr lang="en-US" altLang="en-GB">
              <a:solidFill>
                <a:schemeClr val="bg1">
                  <a:lumMod val="95000"/>
                </a:schemeClr>
              </a:solidFill>
            </a:endParaRPr>
          </a:p>
        </p:txBody>
      </p:sp>
      <p:sp>
        <p:nvSpPr>
          <p:cNvPr id="5" name="Text 2"/>
          <p:cNvSpPr/>
          <p:nvPr/>
        </p:nvSpPr>
        <p:spPr>
          <a:xfrm>
            <a:off x="201168" y="36576"/>
            <a:ext cx="8686800" cy="676656"/>
          </a:xfrm>
          <a:prstGeom prst="rect">
            <a:avLst/>
          </a:prstGeom>
          <a:noFill/>
        </p:spPr>
        <p:txBody>
          <a:bodyPr wrap="square" rtlCol="0" anchor="ctr"/>
          <a:lstStyle/>
          <a:p>
            <a:pPr marL="0" indent="0">
              <a:buNone/>
            </a:pPr>
            <a:endParaRPr lang="en-US" altLang="en-GB" sz="2800">
              <a:solidFill>
                <a:schemeClr val="bg1">
                  <a:lumMod val="95000"/>
                </a:schemeClr>
              </a:solidFill>
              <a:sym typeface="+mn-ea"/>
            </a:endParaRPr>
          </a:p>
          <a:p>
            <a:pPr marL="0" indent="0">
              <a:buNone/>
            </a:pPr>
            <a:r>
              <a:rPr lang="en-US" altLang="en-GB" sz="2800">
                <a:solidFill>
                  <a:schemeClr val="bg1">
                    <a:lumMod val="95000"/>
                  </a:schemeClr>
                </a:solidFill>
                <a:sym typeface="+mn-ea"/>
              </a:rPr>
              <a:t>(The Technical Reasons) Why Python wins at small scale:</a:t>
            </a:r>
            <a:endParaRPr lang="en-US" altLang="en-GB" sz="2800" b="1" dirty="0">
              <a:solidFill>
                <a:schemeClr val="bg1">
                  <a:lumMod val="95000"/>
                </a:schemeClr>
              </a:solidFill>
              <a:latin typeface="Calibri" panose="020F0502020204030204" pitchFamily="34" charset="0"/>
              <a:ea typeface="Calibri" panose="020F0502020204030204" pitchFamily="34" charset="-122"/>
              <a:cs typeface="Calibri" panose="020F0502020204030204" pitchFamily="34" charset="-12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2" name="Text Box 1"/>
          <p:cNvSpPr txBox="1"/>
          <p:nvPr/>
        </p:nvSpPr>
        <p:spPr>
          <a:xfrm>
            <a:off x="394335" y="1913890"/>
            <a:ext cx="8474075" cy="2306955"/>
          </a:xfrm>
          <a:prstGeom prst="rect">
            <a:avLst/>
          </a:prstGeom>
          <a:noFill/>
        </p:spPr>
        <p:txBody>
          <a:bodyPr wrap="square" rtlCol="0">
            <a:spAutoFit/>
          </a:bodyPr>
          <a:p>
            <a:pPr algn="just"/>
            <a:r>
              <a:rPr lang="en-US" altLang="en-GB" b="1">
                <a:solidFill>
                  <a:schemeClr val="bg1">
                    <a:lumMod val="95000"/>
                  </a:schemeClr>
                </a:solidFill>
              </a:rPr>
              <a:t>- The Catalyst Optimizer:</a:t>
            </a:r>
            <a:r>
              <a:rPr lang="en-US" altLang="en-GB">
                <a:solidFill>
                  <a:schemeClr val="bg1">
                    <a:lumMod val="95000"/>
                  </a:schemeClr>
                </a:solidFill>
              </a:rPr>
              <a:t> Spark SQL doesn't just "read" the CSV. It analyzes the query SELECT Region, COUNT(*) . It realizes it only needs one column and ignores the other 100+ columns in your file. Python's DictReader parses the entire line into a dictionary, which is much heavier.</a:t>
            </a:r>
            <a:endParaRPr lang="en-US" altLang="en-GB">
              <a:solidFill>
                <a:schemeClr val="bg1">
                  <a:lumMod val="95000"/>
                </a:schemeClr>
              </a:solidFill>
            </a:endParaRPr>
          </a:p>
          <a:p>
            <a:pPr algn="just"/>
            <a:r>
              <a:rPr lang="en-US" altLang="en-GB" b="1">
                <a:solidFill>
                  <a:schemeClr val="bg1">
                    <a:lumMod val="95000"/>
                  </a:schemeClr>
                </a:solidFill>
              </a:rPr>
              <a:t>- Tungsten Engine:</a:t>
            </a:r>
            <a:r>
              <a:rPr lang="en-US" altLang="en-GB">
                <a:solidFill>
                  <a:schemeClr val="bg1">
                    <a:lumMod val="95000"/>
                  </a:schemeClr>
                </a:solidFill>
              </a:rPr>
              <a:t> Spark uses a specialized memory manager called Tungsten that stores data in compact binary format. This avoids "Garbage Collection" issues that slow down Python when it tries to manage thousands of individual string objects.</a:t>
            </a:r>
            <a:endParaRPr lang="en-US" altLang="en-GB">
              <a:solidFill>
                <a:schemeClr val="bg1">
                  <a:lumMod val="95000"/>
                </a:schemeClr>
              </a:solidFill>
            </a:endParaRPr>
          </a:p>
          <a:p>
            <a:pPr algn="just"/>
            <a:endParaRPr lang="en-US" altLang="en-GB">
              <a:solidFill>
                <a:schemeClr val="bg1">
                  <a:lumMod val="95000"/>
                </a:schemeClr>
              </a:solidFill>
            </a:endParaRPr>
          </a:p>
        </p:txBody>
      </p:sp>
      <p:sp>
        <p:nvSpPr>
          <p:cNvPr id="5" name="Text 2"/>
          <p:cNvSpPr/>
          <p:nvPr/>
        </p:nvSpPr>
        <p:spPr>
          <a:xfrm>
            <a:off x="201168" y="36576"/>
            <a:ext cx="8686800" cy="676656"/>
          </a:xfrm>
          <a:prstGeom prst="rect">
            <a:avLst/>
          </a:prstGeom>
          <a:noFill/>
        </p:spPr>
        <p:txBody>
          <a:bodyPr wrap="square" rtlCol="0" anchor="ctr"/>
          <a:lstStyle/>
          <a:p>
            <a:pPr marL="0" indent="0">
              <a:buNone/>
            </a:pPr>
            <a:endParaRPr lang="en-US" altLang="en-GB" sz="2800">
              <a:solidFill>
                <a:schemeClr val="bg1">
                  <a:lumMod val="95000"/>
                </a:schemeClr>
              </a:solidFill>
              <a:sym typeface="+mn-ea"/>
            </a:endParaRPr>
          </a:p>
          <a:p>
            <a:pPr marL="0" indent="0">
              <a:buNone/>
            </a:pPr>
            <a:r>
              <a:rPr lang="en-US" altLang="en-GB" sz="2800">
                <a:solidFill>
                  <a:schemeClr val="bg1">
                    <a:lumMod val="95000"/>
                  </a:schemeClr>
                </a:solidFill>
                <a:sym typeface="+mn-ea"/>
              </a:rPr>
              <a:t>(The Technical Reasons) Why Python wins at small scale:</a:t>
            </a:r>
            <a:endParaRPr lang="en-US" altLang="en-GB" sz="2800" b="1" dirty="0">
              <a:solidFill>
                <a:schemeClr val="bg1">
                  <a:lumMod val="95000"/>
                </a:schemeClr>
              </a:solidFill>
              <a:latin typeface="Calibri" panose="020F0502020204030204" pitchFamily="34" charset="0"/>
              <a:ea typeface="Calibri" panose="020F0502020204030204" pitchFamily="34" charset="-122"/>
              <a:cs typeface="Calibri" panose="020F0502020204030204" pitchFamily="34" charset="-12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FF6B35"/>
          </a:solidFill>
          <a:ln w="12700">
            <a:solidFill>
              <a:srgbClr val="FF6B35"/>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Benchmarking: The Crossover Point</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FF6B35"/>
                </a:solidFill>
                <a:latin typeface="Calibri" panose="020F0502020204030204" pitchFamily="34" charset="0"/>
                <a:ea typeface="Calibri" panose="020F0502020204030204" pitchFamily="34" charset="-122"/>
                <a:cs typeface="Calibri" panose="020F0502020204030204" pitchFamily="34" charset="-120"/>
              </a:rPr>
              <a:t>Section 7.1 · When Spark Overtakes Pure Python</a:t>
            </a:r>
            <a:endParaRPr lang="en-US" sz="1000" dirty="0"/>
          </a:p>
        </p:txBody>
      </p:sp>
      <p:sp>
        <p:nvSpPr>
          <p:cNvPr id="6" name="Shape 4"/>
          <p:cNvSpPr/>
          <p:nvPr/>
        </p:nvSpPr>
        <p:spPr>
          <a:xfrm>
            <a:off x="201168" y="969264"/>
            <a:ext cx="8741664" cy="749808"/>
          </a:xfrm>
          <a:prstGeom prst="rect">
            <a:avLst/>
          </a:prstGeom>
          <a:solidFill>
            <a:srgbClr val="061120"/>
          </a:solidFill>
          <a:ln w="25400">
            <a:solidFill>
              <a:srgbClr val="FF6B35"/>
            </a:solidFill>
            <a:prstDash val="solid"/>
          </a:ln>
        </p:spPr>
      </p:sp>
      <p:sp>
        <p:nvSpPr>
          <p:cNvPr id="7" name="Text 5"/>
          <p:cNvSpPr/>
          <p:nvPr/>
        </p:nvSpPr>
        <p:spPr>
          <a:xfrm>
            <a:off x="292608" y="969264"/>
            <a:ext cx="4572000" cy="749808"/>
          </a:xfrm>
          <a:prstGeom prst="rect">
            <a:avLst/>
          </a:prstGeom>
          <a:noFill/>
        </p:spPr>
        <p:txBody>
          <a:bodyPr wrap="square" rtlCol="0" anchor="ctr"/>
          <a:lstStyle/>
          <a:p>
            <a:pPr marL="0" indent="0">
              <a:buNone/>
            </a:pPr>
            <a:r>
              <a:rPr lang="en-US" sz="1800" b="1" dirty="0">
                <a:solidFill>
                  <a:srgbClr val="FF6B35"/>
                </a:solidFill>
                <a:latin typeface="Calibri" panose="020F0502020204030204" pitchFamily="34" charset="0"/>
                <a:ea typeface="Calibri" panose="020F0502020204030204" pitchFamily="34" charset="-122"/>
                <a:cs typeface="Calibri" panose="020F0502020204030204" pitchFamily="34" charset="-120"/>
              </a:rPr>
              <a:t>⚡  Crossover Point: ~6,000 – 7,000 rows</a:t>
            </a:r>
            <a:endParaRPr lang="en-US" sz="1800" dirty="0"/>
          </a:p>
        </p:txBody>
      </p:sp>
      <p:sp>
        <p:nvSpPr>
          <p:cNvPr id="8" name="Text 6"/>
          <p:cNvSpPr/>
          <p:nvPr/>
        </p:nvSpPr>
        <p:spPr>
          <a:xfrm>
            <a:off x="5029200" y="969264"/>
            <a:ext cx="3840480" cy="749808"/>
          </a:xfrm>
          <a:prstGeom prst="rect">
            <a:avLst/>
          </a:prstGeom>
          <a:noFill/>
        </p:spPr>
        <p:txBody>
          <a:bodyPr wrap="square" rtlCol="0" anchor="ctr"/>
          <a:lstStyle/>
          <a:p>
            <a:pPr marL="0" indent="0">
              <a:buNone/>
            </a:pPr>
            <a:r>
              <a:rPr lang="en-US" sz="1100" i="1" dirty="0">
                <a:solidFill>
                  <a:srgbClr val="8FA8C8"/>
                </a:solidFill>
                <a:latin typeface="Calibri" panose="020F0502020204030204" pitchFamily="34" charset="0"/>
                <a:ea typeface="Calibri" panose="020F0502020204030204" pitchFamily="34" charset="-122"/>
                <a:cs typeface="Calibri" panose="020F0502020204030204" pitchFamily="34" charset="-120"/>
              </a:rPr>
              <a:t>Beyond this threshold, Spark SQL is the superior choice for any energy data analysis.</a:t>
            </a:r>
            <a:endParaRPr lang="en-US" sz="1100" dirty="0"/>
          </a:p>
        </p:txBody>
      </p:sp>
      <p:sp>
        <p:nvSpPr>
          <p:cNvPr id="9" name="Text 7"/>
          <p:cNvSpPr/>
          <p:nvPr/>
        </p:nvSpPr>
        <p:spPr>
          <a:xfrm>
            <a:off x="201168" y="1847088"/>
            <a:ext cx="8741664" cy="292608"/>
          </a:xfrm>
          <a:prstGeom prst="rect">
            <a:avLst/>
          </a:prstGeom>
          <a:noFill/>
        </p:spPr>
        <p:txBody>
          <a:bodyPr wrap="square" rtlCol="0" anchor="ctr"/>
          <a:lstStyle/>
          <a:p>
            <a:pPr marL="0" indent="0" algn="ctr">
              <a:buNone/>
            </a:pPr>
            <a:r>
              <a:rPr lang="en-US" sz="1100" dirty="0">
                <a:solidFill>
                  <a:srgbClr val="8FA8C8"/>
                </a:solidFill>
                <a:latin typeface="Calibri" panose="020F0502020204030204" pitchFamily="34" charset="0"/>
                <a:ea typeface="Calibri" panose="020F0502020204030204" pitchFamily="34" charset="-122"/>
                <a:cs typeface="Calibri" panose="020F0502020204030204" pitchFamily="34" charset="-120"/>
              </a:rPr>
              <a:t>Dataset sizes tested: 10,000  ·  50,000  ·  100,000 rows</a:t>
            </a:r>
            <a:endParaRPr lang="en-US" sz="1100" dirty="0"/>
          </a:p>
        </p:txBody>
      </p:sp>
      <p:sp>
        <p:nvSpPr>
          <p:cNvPr id="10" name="Shape 8"/>
          <p:cNvSpPr/>
          <p:nvPr>
            <p:custDataLst>
              <p:tags r:id="rId1"/>
            </p:custDataLst>
          </p:nvPr>
        </p:nvSpPr>
        <p:spPr>
          <a:xfrm>
            <a:off x="201168" y="2212848"/>
            <a:ext cx="2816352" cy="2029968"/>
          </a:xfrm>
          <a:prstGeom prst="rect">
            <a:avLst/>
          </a:prstGeom>
          <a:solidFill>
            <a:srgbClr val="112233"/>
          </a:solidFill>
          <a:ln w="12700">
            <a:solidFill>
              <a:srgbClr val="1E90FF"/>
            </a:solidFill>
            <a:prstDash val="solid"/>
          </a:ln>
        </p:spPr>
      </p:sp>
      <p:sp>
        <p:nvSpPr>
          <p:cNvPr id="11" name="Shape 9"/>
          <p:cNvSpPr/>
          <p:nvPr>
            <p:custDataLst>
              <p:tags r:id="rId2"/>
            </p:custDataLst>
          </p:nvPr>
        </p:nvSpPr>
        <p:spPr>
          <a:xfrm>
            <a:off x="201168" y="2212848"/>
            <a:ext cx="2816352" cy="329184"/>
          </a:xfrm>
          <a:prstGeom prst="rect">
            <a:avLst/>
          </a:prstGeom>
          <a:solidFill>
            <a:srgbClr val="1E90FF"/>
          </a:solidFill>
          <a:ln w="12700">
            <a:solidFill>
              <a:srgbClr val="1E90FF"/>
            </a:solidFill>
            <a:prstDash val="solid"/>
          </a:ln>
        </p:spPr>
      </p:sp>
      <p:sp>
        <p:nvSpPr>
          <p:cNvPr id="12" name="Text 10"/>
          <p:cNvSpPr/>
          <p:nvPr>
            <p:custDataLst>
              <p:tags r:id="rId3"/>
            </p:custDataLst>
          </p:nvPr>
        </p:nvSpPr>
        <p:spPr>
          <a:xfrm>
            <a:off x="201168" y="2212848"/>
            <a:ext cx="2816352" cy="32918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Parallelism</a:t>
            </a:r>
            <a:endParaRPr lang="en-US" sz="1100" dirty="0"/>
          </a:p>
        </p:txBody>
      </p:sp>
      <p:sp>
        <p:nvSpPr>
          <p:cNvPr id="13" name="Text 11"/>
          <p:cNvSpPr/>
          <p:nvPr>
            <p:custDataLst>
              <p:tags r:id="rId4"/>
            </p:custDataLst>
          </p:nvPr>
        </p:nvSpPr>
        <p:spPr>
          <a:xfrm>
            <a:off x="292608" y="2596896"/>
            <a:ext cx="2633472" cy="1572768"/>
          </a:xfrm>
          <a:prstGeom prst="rect">
            <a:avLst/>
          </a:prstGeom>
          <a:noFill/>
        </p:spPr>
        <p:txBody>
          <a:bodyPr wrap="square" rtlCol="0" anchor="t"/>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Spark breaks rows into partitions processed across all CPU cores simultaneously. Python reads one row at a time on a single core — linear growth in time.</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custDataLst>
              <p:tags r:id="rId5"/>
            </p:custDataLst>
          </p:nvPr>
        </p:nvSpPr>
        <p:spPr>
          <a:xfrm>
            <a:off x="3172968" y="2212848"/>
            <a:ext cx="2816352" cy="2029968"/>
          </a:xfrm>
          <a:prstGeom prst="rect">
            <a:avLst/>
          </a:prstGeom>
          <a:solidFill>
            <a:srgbClr val="112233"/>
          </a:solidFill>
          <a:ln w="12700">
            <a:solidFill>
              <a:srgbClr val="00C9A7"/>
            </a:solidFill>
            <a:prstDash val="solid"/>
          </a:ln>
        </p:spPr>
        <p:txBody>
          <a:bodyPr/>
          <a:p>
            <a:endParaRPr lang="en-GB" altLang="en-US"/>
          </a:p>
        </p:txBody>
      </p:sp>
      <p:sp>
        <p:nvSpPr>
          <p:cNvPr id="15" name="Shape 13"/>
          <p:cNvSpPr/>
          <p:nvPr>
            <p:custDataLst>
              <p:tags r:id="rId6"/>
            </p:custDataLst>
          </p:nvPr>
        </p:nvSpPr>
        <p:spPr>
          <a:xfrm>
            <a:off x="3172968" y="2212848"/>
            <a:ext cx="2816352" cy="329184"/>
          </a:xfrm>
          <a:prstGeom prst="rect">
            <a:avLst/>
          </a:prstGeom>
          <a:solidFill>
            <a:srgbClr val="00C9A7"/>
          </a:solidFill>
          <a:ln w="12700">
            <a:solidFill>
              <a:srgbClr val="00C9A7"/>
            </a:solidFill>
            <a:prstDash val="solid"/>
          </a:ln>
        </p:spPr>
      </p:sp>
      <p:sp>
        <p:nvSpPr>
          <p:cNvPr id="16" name="Text 14"/>
          <p:cNvSpPr/>
          <p:nvPr>
            <p:custDataLst>
              <p:tags r:id="rId7"/>
            </p:custDataLst>
          </p:nvPr>
        </p:nvSpPr>
        <p:spPr>
          <a:xfrm>
            <a:off x="3172968" y="2212848"/>
            <a:ext cx="2816352" cy="32918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Catalyst Optimizer</a:t>
            </a:r>
            <a:endParaRPr lang="en-US" sz="1100" dirty="0"/>
          </a:p>
        </p:txBody>
      </p:sp>
      <p:sp>
        <p:nvSpPr>
          <p:cNvPr id="17" name="Text 15"/>
          <p:cNvSpPr/>
          <p:nvPr>
            <p:custDataLst>
              <p:tags r:id="rId8"/>
            </p:custDataLst>
          </p:nvPr>
        </p:nvSpPr>
        <p:spPr>
          <a:xfrm>
            <a:off x="3264408" y="2596896"/>
            <a:ext cx="2633472" cy="1572768"/>
          </a:xfrm>
          <a:prstGeom prst="rect">
            <a:avLst/>
          </a:prstGeom>
          <a:noFill/>
        </p:spPr>
        <p:txBody>
          <a:bodyPr wrap="square" rtlCol="0" anchor="t"/>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Spark SQL analyzes 'SELECT Region, COUNT(*)' and realises it only needs one column — ignoring the other 100+ columns. Python DictReader parses every column.</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custDataLst>
              <p:tags r:id="rId9"/>
            </p:custDataLst>
          </p:nvPr>
        </p:nvSpPr>
        <p:spPr>
          <a:xfrm>
            <a:off x="6144768" y="2212848"/>
            <a:ext cx="2816352" cy="2029968"/>
          </a:xfrm>
          <a:prstGeom prst="rect">
            <a:avLst/>
          </a:prstGeom>
          <a:solidFill>
            <a:srgbClr val="112233"/>
          </a:solidFill>
          <a:ln w="12700">
            <a:solidFill>
              <a:srgbClr val="9B59B6"/>
            </a:solidFill>
            <a:prstDash val="solid"/>
          </a:ln>
        </p:spPr>
      </p:sp>
      <p:sp>
        <p:nvSpPr>
          <p:cNvPr id="19" name="Shape 17"/>
          <p:cNvSpPr/>
          <p:nvPr>
            <p:custDataLst>
              <p:tags r:id="rId10"/>
            </p:custDataLst>
          </p:nvPr>
        </p:nvSpPr>
        <p:spPr>
          <a:xfrm>
            <a:off x="6144768" y="2212848"/>
            <a:ext cx="2816352" cy="329184"/>
          </a:xfrm>
          <a:prstGeom prst="rect">
            <a:avLst/>
          </a:prstGeom>
          <a:solidFill>
            <a:srgbClr val="9B59B6"/>
          </a:solidFill>
          <a:ln w="12700">
            <a:solidFill>
              <a:srgbClr val="9B59B6"/>
            </a:solidFill>
            <a:prstDash val="solid"/>
          </a:ln>
        </p:spPr>
      </p:sp>
      <p:sp>
        <p:nvSpPr>
          <p:cNvPr id="20" name="Text 18"/>
          <p:cNvSpPr/>
          <p:nvPr>
            <p:custDataLst>
              <p:tags r:id="rId11"/>
            </p:custDataLst>
          </p:nvPr>
        </p:nvSpPr>
        <p:spPr>
          <a:xfrm>
            <a:off x="6144768" y="2212848"/>
            <a:ext cx="2816352" cy="32918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Tungsten Engine</a:t>
            </a:r>
            <a:endParaRPr lang="en-US" sz="1100" dirty="0"/>
          </a:p>
        </p:txBody>
      </p:sp>
      <p:sp>
        <p:nvSpPr>
          <p:cNvPr id="21" name="Text 19"/>
          <p:cNvSpPr/>
          <p:nvPr>
            <p:custDataLst>
              <p:tags r:id="rId12"/>
            </p:custDataLst>
          </p:nvPr>
        </p:nvSpPr>
        <p:spPr>
          <a:xfrm>
            <a:off x="6236208" y="2596896"/>
            <a:ext cx="2633472" cy="1572768"/>
          </a:xfrm>
          <a:prstGeom prst="rect">
            <a:avLst/>
          </a:prstGeom>
          <a:noFill/>
        </p:spPr>
        <p:txBody>
          <a:bodyPr wrap="square" rtlCol="0" anchor="t"/>
          <a:lstStyle/>
          <a:p>
            <a:pPr marL="0" indent="0" algn="just">
              <a:buNone/>
            </a:pPr>
            <a:r>
              <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rPr>
              <a:t>Spark stores data in compact binary format avoiding garbage collection. Python creates thousands of individual string objects per row — much heavier memory use.</a:t>
            </a:r>
            <a:endParaRPr lang="en-US" sz="1400" dirty="0">
              <a:solidFill>
                <a:srgbClr val="8FA8C8"/>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182880" y="4681728"/>
            <a:ext cx="8778240" cy="384048"/>
          </a:xfrm>
          <a:prstGeom prst="rect">
            <a:avLst/>
          </a:prstGeom>
          <a:solidFill>
            <a:srgbClr val="0A2540"/>
          </a:solidFill>
          <a:ln w="9525">
            <a:solidFill>
              <a:srgbClr val="FF6B35"/>
            </a:solidFill>
            <a:prstDash val="solid"/>
          </a:ln>
        </p:spPr>
      </p:sp>
      <p:sp>
        <p:nvSpPr>
          <p:cNvPr id="23" name="Text 21"/>
          <p:cNvSpPr/>
          <p:nvPr/>
        </p:nvSpPr>
        <p:spPr>
          <a:xfrm>
            <a:off x="274320" y="4681728"/>
            <a:ext cx="8595360" cy="384048"/>
          </a:xfrm>
          <a:prstGeom prst="rect">
            <a:avLst/>
          </a:prstGeom>
          <a:noFill/>
        </p:spPr>
        <p:txBody>
          <a:bodyPr wrap="square" rtlCol="0" anchor="ctr"/>
          <a:lstStyle/>
          <a:p>
            <a:pPr marL="0" indent="0" algn="ctr">
              <a:buNone/>
            </a:pPr>
            <a:r>
              <a:rPr lang="en-US" sz="1000" i="1" dirty="0">
                <a:solidFill>
                  <a:srgbClr val="8FA8C8"/>
                </a:solidFill>
                <a:latin typeface="Calibri" panose="020F0502020204030204" pitchFamily="34" charset="0"/>
                <a:ea typeface="Calibri" panose="020F0502020204030204" pitchFamily="34" charset="-122"/>
                <a:cs typeface="Calibri" panose="020F0502020204030204" pitchFamily="34" charset="-120"/>
              </a:rPr>
              <a:t>Graph: performance_speedup_vs_python.jpg — shows speedup ratio across all three row-count benchmarks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33"/>
          </a:solidFill>
          <a:ln w="12700">
            <a:solidFill>
              <a:srgbClr val="112233"/>
            </a:solidFill>
            <a:prstDash val="solid"/>
          </a:ln>
        </p:spPr>
      </p:sp>
      <p:sp>
        <p:nvSpPr>
          <p:cNvPr id="3" name="Shape 1"/>
          <p:cNvSpPr/>
          <p:nvPr/>
        </p:nvSpPr>
        <p:spPr>
          <a:xfrm>
            <a:off x="0" y="0"/>
            <a:ext cx="64008" cy="5143500"/>
          </a:xfrm>
          <a:prstGeom prst="rect">
            <a:avLst/>
          </a:prstGeom>
          <a:solidFill>
            <a:srgbClr val="1E90FF"/>
          </a:solidFill>
          <a:ln w="12700">
            <a:solidFill>
              <a:srgbClr val="1E90FF"/>
            </a:solidFill>
            <a:prstDash val="solid"/>
          </a:ln>
        </p:spPr>
      </p:sp>
      <p:sp>
        <p:nvSpPr>
          <p:cNvPr id="4" name="Text 2"/>
          <p:cNvSpPr/>
          <p:nvPr/>
        </p:nvSpPr>
        <p:spPr>
          <a:xfrm>
            <a:off x="201168" y="36576"/>
            <a:ext cx="8686800" cy="676656"/>
          </a:xfrm>
          <a:prstGeom prst="rect">
            <a:avLst/>
          </a:prstGeom>
          <a:noFill/>
        </p:spPr>
        <p:txBody>
          <a:bodyPr wrap="square" rtlCol="0" anchor="ctr"/>
          <a:lstStyle/>
          <a:p>
            <a:pPr marL="0" indent="0">
              <a:buNone/>
            </a:pPr>
            <a:endPar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2800" dirty="0"/>
          </a:p>
        </p:txBody>
      </p:sp>
      <p:sp>
        <p:nvSpPr>
          <p:cNvPr id="5" name="Text 3"/>
          <p:cNvSpPr/>
          <p:nvPr/>
        </p:nvSpPr>
        <p:spPr>
          <a:xfrm>
            <a:off x="201168" y="731520"/>
            <a:ext cx="8686800" cy="219456"/>
          </a:xfrm>
          <a:prstGeom prst="rect">
            <a:avLst/>
          </a:prstGeom>
          <a:noFill/>
        </p:spPr>
        <p:txBody>
          <a:bodyPr wrap="square" rtlCol="0" anchor="ctr"/>
          <a:lstStyle/>
          <a:p>
            <a:pPr marL="0" indent="0">
              <a:buNone/>
            </a:pPr>
            <a:r>
              <a:rPr lang="en-US" sz="1000" i="1" dirty="0">
                <a:solidFill>
                  <a:srgbClr val="1E90FF"/>
                </a:solidFill>
                <a:latin typeface="Calibri" panose="020F0502020204030204" pitchFamily="34" charset="0"/>
                <a:ea typeface="Calibri" panose="020F0502020204030204" pitchFamily="34" charset="-122"/>
                <a:cs typeface="Calibri" panose="020F0502020204030204" pitchFamily="34" charset="-120"/>
              </a:rPr>
              <a:t> </a:t>
            </a:r>
            <a:endParaRPr lang="en-US" sz="1000" dirty="0"/>
          </a:p>
        </p:txBody>
      </p:sp>
      <p:sp>
        <p:nvSpPr>
          <p:cNvPr id="6" name="Shape 4"/>
          <p:cNvSpPr/>
          <p:nvPr/>
        </p:nvSpPr>
        <p:spPr>
          <a:xfrm>
            <a:off x="201295" y="1005840"/>
            <a:ext cx="8643620" cy="3926840"/>
          </a:xfrm>
          <a:prstGeom prst="rect">
            <a:avLst/>
          </a:prstGeom>
          <a:solidFill>
            <a:srgbClr val="112233"/>
          </a:solidFill>
          <a:ln w="12700">
            <a:solidFill>
              <a:srgbClr val="1E90FF"/>
            </a:solidFill>
            <a:prstDash val="solid"/>
          </a:ln>
        </p:spPr>
      </p:sp>
      <p:sp>
        <p:nvSpPr>
          <p:cNvPr id="7" name="Shape 5"/>
          <p:cNvSpPr/>
          <p:nvPr/>
        </p:nvSpPr>
        <p:spPr>
          <a:xfrm>
            <a:off x="201295" y="1005840"/>
            <a:ext cx="8637905" cy="494030"/>
          </a:xfrm>
          <a:prstGeom prst="rect">
            <a:avLst/>
          </a:prstGeom>
          <a:solidFill>
            <a:srgbClr val="1E90FF"/>
          </a:solidFill>
          <a:ln w="12700">
            <a:solidFill>
              <a:srgbClr val="1E90FF"/>
            </a:solidFill>
            <a:prstDash val="solid"/>
          </a:ln>
        </p:spPr>
      </p:sp>
      <p:sp>
        <p:nvSpPr>
          <p:cNvPr id="8" name="Text 6"/>
          <p:cNvSpPr/>
          <p:nvPr/>
        </p:nvSpPr>
        <p:spPr>
          <a:xfrm>
            <a:off x="201168" y="1005840"/>
            <a:ext cx="2816352" cy="49377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Spark for Scale</a:t>
            </a:r>
            <a:endParaRPr lang="en-US" sz="1300" dirty="0"/>
          </a:p>
        </p:txBody>
      </p:sp>
      <p:sp>
        <p:nvSpPr>
          <p:cNvPr id="17" name="Text 15"/>
          <p:cNvSpPr/>
          <p:nvPr/>
        </p:nvSpPr>
        <p:spPr>
          <a:xfrm>
            <a:off x="3172968" y="1005840"/>
            <a:ext cx="2816352" cy="49377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endParaRPr lang="en-US" sz="1300" dirty="0"/>
          </a:p>
        </p:txBody>
      </p:sp>
      <p:sp>
        <p:nvSpPr>
          <p:cNvPr id="28" name="Text 26"/>
          <p:cNvSpPr/>
          <p:nvPr/>
        </p:nvSpPr>
        <p:spPr>
          <a:xfrm>
            <a:off x="6400800" y="1591056"/>
            <a:ext cx="2487168" cy="658368"/>
          </a:xfrm>
          <a:prstGeom prst="rect">
            <a:avLst/>
          </a:prstGeom>
          <a:noFill/>
        </p:spPr>
        <p:txBody>
          <a:bodyPr wrap="square" rtlCol="0" anchor="ctr"/>
          <a:lstStyle/>
          <a:p>
            <a:pPr marL="0" indent="0">
              <a:buNone/>
            </a:pP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 </a:t>
            </a:r>
            <a:endParaRPr lang="en-US" sz="1050" dirty="0"/>
          </a:p>
        </p:txBody>
      </p:sp>
      <p:sp>
        <p:nvSpPr>
          <p:cNvPr id="30" name="Text 28"/>
          <p:cNvSpPr/>
          <p:nvPr/>
        </p:nvSpPr>
        <p:spPr>
          <a:xfrm>
            <a:off x="6400800" y="2377440"/>
            <a:ext cx="2487168" cy="658368"/>
          </a:xfrm>
          <a:prstGeom prst="rect">
            <a:avLst/>
          </a:prstGeom>
          <a:noFill/>
        </p:spPr>
        <p:txBody>
          <a:bodyPr wrap="square" rtlCol="0" anchor="ctr"/>
          <a:lstStyle/>
          <a:p>
            <a:pPr marL="0" indent="0">
              <a:buNone/>
            </a:pP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 </a:t>
            </a:r>
            <a:endParaRPr lang="en-US" sz="1050" dirty="0"/>
          </a:p>
        </p:txBody>
      </p:sp>
      <p:sp>
        <p:nvSpPr>
          <p:cNvPr id="32" name="Text 30"/>
          <p:cNvSpPr/>
          <p:nvPr/>
        </p:nvSpPr>
        <p:spPr>
          <a:xfrm>
            <a:off x="6400800" y="3163824"/>
            <a:ext cx="2487168" cy="658368"/>
          </a:xfrm>
          <a:prstGeom prst="rect">
            <a:avLst/>
          </a:prstGeom>
          <a:noFill/>
        </p:spPr>
        <p:txBody>
          <a:bodyPr wrap="square" rtlCol="0" anchor="ctr"/>
          <a:lstStyle/>
          <a:p>
            <a:pPr marL="0" indent="0">
              <a:buNone/>
            </a:pPr>
            <a:r>
              <a:rPr lang="en-US" sz="1050" dirty="0">
                <a:solidFill>
                  <a:srgbClr val="8FA8C8"/>
                </a:solidFill>
                <a:latin typeface="Calibri" panose="020F0502020204030204" pitchFamily="34" charset="0"/>
                <a:ea typeface="Calibri" panose="020F0502020204030204" pitchFamily="34" charset="-122"/>
                <a:cs typeface="Calibri" panose="020F0502020204030204" pitchFamily="34" charset="-120"/>
              </a:rPr>
              <a:t> </a:t>
            </a:r>
            <a:endParaRPr lang="en-US" sz="1050" dirty="0"/>
          </a:p>
        </p:txBody>
      </p:sp>
      <p:sp>
        <p:nvSpPr>
          <p:cNvPr id="34" name="Text 32"/>
          <p:cNvSpPr/>
          <p:nvPr/>
        </p:nvSpPr>
        <p:spPr>
          <a:xfrm>
            <a:off x="256413" y="2571750"/>
            <a:ext cx="8558784" cy="749808"/>
          </a:xfrm>
          <a:prstGeom prst="rect">
            <a:avLst/>
          </a:prstGeom>
          <a:noFill/>
        </p:spPr>
        <p:txBody>
          <a:bodyPr wrap="square" rtlCol="0" anchor="ctr"/>
          <a:lstStyle/>
          <a:p>
            <a:pPr marL="0" indent="0" algn="just">
              <a:buNone/>
            </a:pPr>
            <a:r>
              <a:rPr lang="en-US" altLang="en-GB" sz="1400" dirty="0">
                <a:solidFill>
                  <a:schemeClr val="bg1"/>
                </a:solidFill>
              </a:rPr>
              <a:t>This project demonstrated that Apache Spark is an effective and scalable framework for large-scale survey analytics. </a:t>
            </a:r>
            <a:endParaRPr lang="en-US" altLang="en-GB" sz="1400" dirty="0">
              <a:solidFill>
                <a:schemeClr val="bg1"/>
              </a:solidFill>
            </a:endParaRPr>
          </a:p>
          <a:p>
            <a:pPr marL="0" indent="0" algn="just">
              <a:buNone/>
            </a:pPr>
            <a:endParaRPr lang="en-US" altLang="en-GB" sz="1400" dirty="0">
              <a:solidFill>
                <a:schemeClr val="bg1"/>
              </a:solidFill>
            </a:endParaRPr>
          </a:p>
          <a:p>
            <a:pPr marL="0" indent="0" algn="just">
              <a:buNone/>
            </a:pPr>
            <a:r>
              <a:rPr lang="en-US" altLang="en-GB" sz="1400" dirty="0">
                <a:solidFill>
                  <a:schemeClr val="bg1"/>
                </a:solidFill>
              </a:rPr>
              <a:t>Key takeaways include:</a:t>
            </a:r>
            <a:endParaRPr lang="en-US" altLang="en-GB" sz="1400" dirty="0">
              <a:solidFill>
                <a:schemeClr val="bg1"/>
              </a:solidFill>
            </a:endParaRPr>
          </a:p>
          <a:p>
            <a:pPr marL="0" indent="0" algn="just">
              <a:buNone/>
            </a:pPr>
            <a:r>
              <a:rPr lang="en-US" altLang="en-GB" sz="1400" dirty="0">
                <a:solidFill>
                  <a:schemeClr val="bg1"/>
                </a:solidFill>
              </a:rPr>
              <a:t>• Spark enables efficient ETL at scale with multiple parallel analysis pipelines.</a:t>
            </a:r>
            <a:endParaRPr lang="en-US" altLang="en-GB" sz="1400" dirty="0">
              <a:solidFill>
                <a:schemeClr val="bg1"/>
              </a:solidFill>
            </a:endParaRPr>
          </a:p>
          <a:p>
            <a:pPr marL="0" indent="0" algn="just">
              <a:buNone/>
            </a:pPr>
            <a:r>
              <a:rPr lang="en-US" altLang="en-GB" sz="1400" dirty="0">
                <a:solidFill>
                  <a:schemeClr val="bg1"/>
                </a:solidFill>
              </a:rPr>
              <a:t>• SQL and DataFrame interfaces yield equivalent results, providing flexibility without sacrificing correctness.</a:t>
            </a:r>
            <a:endParaRPr lang="en-US" altLang="en-GB" sz="1400" dirty="0">
              <a:solidFill>
                <a:schemeClr val="bg1"/>
              </a:solidFill>
            </a:endParaRPr>
          </a:p>
          <a:p>
            <a:pPr marL="0" indent="0" algn="just">
              <a:buNone/>
            </a:pPr>
            <a:r>
              <a:rPr lang="en-US" altLang="en-GB" sz="1400" dirty="0">
                <a:solidFill>
                  <a:schemeClr val="bg1"/>
                </a:solidFill>
              </a:rPr>
              <a:t>• Strict data cleaning rules materially improve the quality and interpretability of visual outputs.</a:t>
            </a:r>
            <a:endParaRPr lang="en-US" altLang="en-GB" sz="1400" dirty="0">
              <a:solidFill>
                <a:schemeClr val="bg1"/>
              </a:solidFill>
            </a:endParaRPr>
          </a:p>
          <a:p>
            <a:pPr marL="0" indent="0" algn="just">
              <a:buNone/>
            </a:pPr>
            <a:r>
              <a:rPr lang="en-US" altLang="en-GB" sz="1400" dirty="0">
                <a:solidFill>
                  <a:schemeClr val="bg1"/>
                </a:solidFill>
              </a:rPr>
              <a:t>• Visual analytics provide evidence-based insights into energy access distribution across regions and districts, inequality factors (SEC category, rural/urban classification, education), and potential infrastructure barriers (distance, reasons for non-connection).</a:t>
            </a:r>
            <a:endParaRPr lang="en-US" altLang="en-GB" sz="1400" dirty="0">
              <a:solidFill>
                <a:schemeClr val="bg1"/>
              </a:solidFill>
            </a:endParaRPr>
          </a:p>
          <a:p>
            <a:pPr marL="0" indent="0" algn="just">
              <a:buNone/>
            </a:pPr>
            <a:endParaRPr lang="en-US" altLang="en-GB" sz="1400" dirty="0">
              <a:solidFill>
                <a:schemeClr val="bg1"/>
              </a:solidFill>
            </a:endParaRPr>
          </a:p>
          <a:p>
            <a:pPr marL="0" indent="0" algn="just">
              <a:buNone/>
            </a:pPr>
            <a:r>
              <a:rPr lang="en-US" altLang="en-GB" sz="1400" dirty="0">
                <a:solidFill>
                  <a:schemeClr val="bg1"/>
                </a:solidFill>
              </a:rPr>
              <a:t>As dataset sizes grow, Spark's distributed architecture delivers exponentially greater speedups over single-threaded Python, confirming its suitability as the foundation for large-scale data engineering workflows.</a:t>
            </a:r>
            <a:endParaRPr lang="en-US" altLang="en-GB" sz="1400" dirty="0">
              <a:solidFill>
                <a:schemeClr val="bg1"/>
              </a:solidFill>
            </a:endParaRPr>
          </a:p>
        </p:txBody>
      </p:sp>
    </p:spTree>
  </p:cSld>
  <p:clrMapOvr>
    <a:masterClrMapping/>
  </p:clrMapOvr>
</p:sld>
</file>

<file path=ppt/tags/tag1.xml><?xml version="1.0" encoding="utf-8"?>
<p:tagLst xmlns:p="http://schemas.openxmlformats.org/presentationml/2006/main">
  <p:tag name="KSO_WM_DIAGRAM_VIRTUALLY_FRAME" val="{&quot;height&quot;:288,&quot;left&quot;:15.84,&quot;top&quot;:79.2,&quot;width&quot;:688.3199999999999}"/>
</p:tagLst>
</file>

<file path=ppt/tags/tag2.xml><?xml version="1.0" encoding="utf-8"?>
<p:tagLst xmlns:p="http://schemas.openxmlformats.org/presentationml/2006/main">
  <p:tag name="KSO_WM_DIAGRAM_VIRTUALLY_FRAME" val="{&quot;height&quot;:288,&quot;left&quot;:15.84,&quot;top&quot;:79.2,&quot;width&quot;:688.3199999999999}"/>
</p:tagLst>
</file>

<file path=ppt/tags/tag3.xml><?xml version="1.0" encoding="utf-8"?>
<p:tagLst xmlns:p="http://schemas.openxmlformats.org/presentationml/2006/main">
  <p:tag name="KSO_WM_DIAGRAM_VIRTUALLY_FRAME" val="{&quot;height&quot;:288,&quot;left&quot;:15.84,&quot;top&quot;:79.2,&quot;width&quot;:688.3199999999999}"/>
</p:tagLst>
</file>

<file path=ppt/tags/tag4.xml><?xml version="1.0" encoding="utf-8"?>
<p:tagLst xmlns:p="http://schemas.openxmlformats.org/presentationml/2006/main">
  <p:tag name="KSO_WM_DIAGRAM_VIRTUALLY_FRAME" val="{&quot;height&quot;:288,&quot;left&quot;:15.84,&quot;top&quot;:79.2,&quot;width&quot;:688.3199999999999}"/>
</p:tagLst>
</file>

<file path=ppt/tags/tag5.xml><?xml version="1.0" encoding="utf-8"?>
<p:tagLst xmlns:p="http://schemas.openxmlformats.org/presentationml/2006/main">
  <p:tag name="KSO_WM_DIAGRAM_VIRTUALLY_FRAME" val="{&quot;height&quot;:288,&quot;left&quot;:15.84,&quot;top&quot;:79.2,&quot;width&quot;:688.3199999999999}"/>
</p:tagLst>
</file>

<file path=ppt/tags/tag6.xml><?xml version="1.0" encoding="utf-8"?>
<p:tagLst xmlns:p="http://schemas.openxmlformats.org/presentationml/2006/main">
  <p:tag name="KSO_WM_DIAGRAM_VIRTUALLY_FRAME" val="{&quot;height&quot;:288,&quot;left&quot;:15.84,&quot;top&quot;:79.2,&quot;width&quot;:688.3199999999999}"/>
</p:tagLst>
</file>

<file path=ppt/tags/tag7.xml><?xml version="1.0" encoding="utf-8"?>
<p:tagLst xmlns:p="http://schemas.openxmlformats.org/presentationml/2006/main">
  <p:tag name="KSO_WM_DIAGRAM_VIRTUALLY_FRAME" val="{&quot;height&quot;:288,&quot;left&quot;:15.84,&quot;top&quot;:79.2,&quot;width&quot;:688.3199999999999}"/>
</p:tagLst>
</file>

<file path=ppt/tags/tag8.xml><?xml version="1.0" encoding="utf-8"?>
<p:tagLst xmlns:p="http://schemas.openxmlformats.org/presentationml/2006/main">
  <p:tag name="KSO_WM_DIAGRAM_VIRTUALLY_FRAME" val="{&quot;height&quot;:288,&quot;left&quot;:15.84,&quot;top&quot;:79.2,&quot;width&quot;:688.3199999999999}"/>
</p:tagLst>
</file>

<file path=ppt/tags/tag9.xml><?xml version="1.0" encoding="utf-8"?>
<p:tagLst xmlns:p="http://schemas.openxmlformats.org/presentationml/2006/main">
  <p:tag name="KSO_WM_DIAGRAM_VIRTUALLY_FRAME" val="{&quot;height&quot;:288,&quot;left&quot;:15.84,&quot;top&quot;:79.2,&quot;width&quot;:688.3199999999999}"/>
</p:tagLst>
</file>

<file path=ppt/tags/tag10.xml><?xml version="1.0" encoding="utf-8"?>
<p:tagLst xmlns:p="http://schemas.openxmlformats.org/presentationml/2006/main">
  <p:tag name="KSO_WM_DIAGRAM_VIRTUALLY_FRAME" val="{&quot;height&quot;:288,&quot;left&quot;:15.84,&quot;top&quot;:79.2,&quot;width&quot;:688.3199999999999}"/>
</p:tagLst>
</file>

<file path=ppt/tags/tag11.xml><?xml version="1.0" encoding="utf-8"?>
<p:tagLst xmlns:p="http://schemas.openxmlformats.org/presentationml/2006/main">
  <p:tag name="KSO_WM_DIAGRAM_VIRTUALLY_FRAME" val="{&quot;height&quot;:288,&quot;left&quot;:15.84,&quot;top&quot;:79.2,&quot;width&quot;:688.3199999999999}"/>
</p:tagLst>
</file>

<file path=ppt/tags/tag12.xml><?xml version="1.0" encoding="utf-8"?>
<p:tagLst xmlns:p="http://schemas.openxmlformats.org/presentationml/2006/main">
  <p:tag name="KSO_WM_DIAGRAM_VIRTUALLY_FRAME" val="{&quot;height&quot;:288,&quot;left&quot;:15.84,&quot;top&quot;:79.2,&quot;width&quot;:688.3199999999999}"/>
</p:tagLst>
</file>

<file path=ppt/tags/tag13.xml><?xml version="1.0" encoding="utf-8"?>
<p:tagLst xmlns:p="http://schemas.openxmlformats.org/presentationml/2006/main">
  <p:tag name="KSO_WM_DIAGRAM_VIRTUALLY_FRAME" val="{&quot;height&quot;:288,&quot;left&quot;:15.84,&quot;top&quot;:79.2,&quot;width&quot;:688.3199999999999}"/>
</p:tagLst>
</file>

<file path=ppt/tags/tag14.xml><?xml version="1.0" encoding="utf-8"?>
<p:tagLst xmlns:p="http://schemas.openxmlformats.org/presentationml/2006/main">
  <p:tag name="KSO_WM_DIAGRAM_VIRTUALLY_FRAME" val="{&quot;height&quot;:288,&quot;left&quot;:15.84,&quot;top&quot;:79.2,&quot;width&quot;:688.3199999999999}"/>
</p:tagLst>
</file>

<file path=ppt/tags/tag15.xml><?xml version="1.0" encoding="utf-8"?>
<p:tagLst xmlns:p="http://schemas.openxmlformats.org/presentationml/2006/main">
  <p:tag name="KSO_WM_DIAGRAM_VIRTUALLY_FRAME" val="{&quot;height&quot;:288,&quot;left&quot;:15.84,&quot;top&quot;:79.2,&quot;width&quot;:688.3199999999999}"/>
</p:tagLst>
</file>

<file path=ppt/tags/tag16.xml><?xml version="1.0" encoding="utf-8"?>
<p:tagLst xmlns:p="http://schemas.openxmlformats.org/presentationml/2006/main">
  <p:tag name="KSO_WM_DIAGRAM_VIRTUALLY_FRAME" val="{&quot;height&quot;:288,&quot;left&quot;:15.84,&quot;top&quot;:79.2,&quot;width&quot;:688.3199999999999}"/>
</p:tagLst>
</file>

<file path=ppt/tags/tag17.xml><?xml version="1.0" encoding="utf-8"?>
<p:tagLst xmlns:p="http://schemas.openxmlformats.org/presentationml/2006/main">
  <p:tag name="KSO_WM_DIAGRAM_VIRTUALLY_FRAME" val="{&quot;height&quot;:288,&quot;left&quot;:15.84,&quot;top&quot;:79.2,&quot;width&quot;:688.3199999999999}"/>
</p:tagLst>
</file>

<file path=ppt/tags/tag18.xml><?xml version="1.0" encoding="utf-8"?>
<p:tagLst xmlns:p="http://schemas.openxmlformats.org/presentationml/2006/main">
  <p:tag name="KSO_WM_DIAGRAM_VIRTUALLY_FRAME" val="{&quot;height&quot;:288,&quot;left&quot;:15.84,&quot;top&quot;:79.2,&quot;width&quot;:688.3199999999999}"/>
</p:tagLst>
</file>

<file path=ppt/tags/tag19.xml><?xml version="1.0" encoding="utf-8"?>
<p:tagLst xmlns:p="http://schemas.openxmlformats.org/presentationml/2006/main">
  <p:tag name="KSO_WM_DIAGRAM_VIRTUALLY_FRAME" val="{&quot;height&quot;:288,&quot;left&quot;:15.84,&quot;top&quot;:79.2,&quot;width&quot;:688.3199999999999}"/>
</p:tagLst>
</file>

<file path=ppt/tags/tag20.xml><?xml version="1.0" encoding="utf-8"?>
<p:tagLst xmlns:p="http://schemas.openxmlformats.org/presentationml/2006/main">
  <p:tag name="KSO_WM_DIAGRAM_VIRTUALLY_FRAME" val="{&quot;height&quot;:288,&quot;left&quot;:15.84,&quot;top&quot;:79.2,&quot;width&quot;:688.3199999999999}"/>
</p:tagLst>
</file>

<file path=ppt/tags/tag21.xml><?xml version="1.0" encoding="utf-8"?>
<p:tagLst xmlns:p="http://schemas.openxmlformats.org/presentationml/2006/main">
  <p:tag name="KSO_WM_DIAGRAM_VIRTUALLY_FRAME" val="{&quot;height&quot;:288,&quot;left&quot;:15.84,&quot;top&quot;:79.2,&quot;width&quot;:688.3199999999999}"/>
</p:tagLst>
</file>

<file path=ppt/tags/tag22.xml><?xml version="1.0" encoding="utf-8"?>
<p:tagLst xmlns:p="http://schemas.openxmlformats.org/presentationml/2006/main">
  <p:tag name="KSO_WM_DIAGRAM_VIRTUALLY_FRAME" val="{&quot;height&quot;:288,&quot;left&quot;:15.84,&quot;top&quot;:79.2,&quot;width&quot;:688.3199999999999}"/>
</p:tagLst>
</file>

<file path=ppt/tags/tag23.xml><?xml version="1.0" encoding="utf-8"?>
<p:tagLst xmlns:p="http://schemas.openxmlformats.org/presentationml/2006/main">
  <p:tag name="KSO_WM_DIAGRAM_VIRTUALLY_FRAME" val="{&quot;height&quot;:288,&quot;left&quot;:15.84,&quot;top&quot;:79.2,&quot;width&quot;:688.3199999999999}"/>
</p:tagLst>
</file>

<file path=ppt/tags/tag24.xml><?xml version="1.0" encoding="utf-8"?>
<p:tagLst xmlns:p="http://schemas.openxmlformats.org/presentationml/2006/main">
  <p:tag name="KSO_WM_DIAGRAM_VIRTUALLY_FRAME" val="{&quot;height&quot;:288,&quot;left&quot;:15.84,&quot;top&quot;:79.2,&quot;width&quot;:688.3199999999999}"/>
</p:tagLst>
</file>

<file path=ppt/tags/tag25.xml><?xml version="1.0" encoding="utf-8"?>
<p:tagLst xmlns:p="http://schemas.openxmlformats.org/presentationml/2006/main">
  <p:tag name="KSO_WM_DIAGRAM_VIRTUALLY_FRAME" val="{&quot;height&quot;:288,&quot;left&quot;:15.84,&quot;top&quot;:79.2,&quot;width&quot;:688.3199999999999}"/>
</p:tagLst>
</file>

<file path=ppt/tags/tag26.xml><?xml version="1.0" encoding="utf-8"?>
<p:tagLst xmlns:p="http://schemas.openxmlformats.org/presentationml/2006/main">
  <p:tag name="KSO_WM_DIAGRAM_VIRTUALLY_FRAME" val="{&quot;height&quot;:280.8,&quot;left&quot;:15.84,&quot;top&quot;:80.64,&quot;width&quot;:686.1600000000001}"/>
</p:tagLst>
</file>

<file path=ppt/tags/tag27.xml><?xml version="1.0" encoding="utf-8"?>
<p:tagLst xmlns:p="http://schemas.openxmlformats.org/presentationml/2006/main">
  <p:tag name="KSO_WM_DIAGRAM_VIRTUALLY_FRAME" val="{&quot;height&quot;:280.8,&quot;left&quot;:15.84,&quot;top&quot;:80.64,&quot;width&quot;:686.1600000000001}"/>
</p:tagLst>
</file>

<file path=ppt/tags/tag28.xml><?xml version="1.0" encoding="utf-8"?>
<p:tagLst xmlns:p="http://schemas.openxmlformats.org/presentationml/2006/main">
  <p:tag name="KSO_WM_DIAGRAM_VIRTUALLY_FRAME" val="{&quot;height&quot;:280.8,&quot;left&quot;:15.84,&quot;top&quot;:80.64,&quot;width&quot;:686.1600000000001}"/>
</p:tagLst>
</file>

<file path=ppt/tags/tag29.xml><?xml version="1.0" encoding="utf-8"?>
<p:tagLst xmlns:p="http://schemas.openxmlformats.org/presentationml/2006/main">
  <p:tag name="KSO_WM_DIAGRAM_VIRTUALLY_FRAME" val="{&quot;height&quot;:280.8,&quot;left&quot;:15.84,&quot;top&quot;:80.64,&quot;width&quot;:686.1600000000001}"/>
</p:tagLst>
</file>

<file path=ppt/tags/tag30.xml><?xml version="1.0" encoding="utf-8"?>
<p:tagLst xmlns:p="http://schemas.openxmlformats.org/presentationml/2006/main">
  <p:tag name="KSO_WM_DIAGRAM_VIRTUALLY_FRAME" val="{&quot;height&quot;:280.8,&quot;left&quot;:15.84,&quot;top&quot;:80.64,&quot;width&quot;:686.1600000000001}"/>
</p:tagLst>
</file>

<file path=ppt/tags/tag31.xml><?xml version="1.0" encoding="utf-8"?>
<p:tagLst xmlns:p="http://schemas.openxmlformats.org/presentationml/2006/main">
  <p:tag name="KSO_WM_DIAGRAM_VIRTUALLY_FRAME" val="{&quot;height&quot;:280.8,&quot;left&quot;:15.84,&quot;top&quot;:80.64,&quot;width&quot;:686.1600000000001}"/>
</p:tagLst>
</file>

<file path=ppt/tags/tag32.xml><?xml version="1.0" encoding="utf-8"?>
<p:tagLst xmlns:p="http://schemas.openxmlformats.org/presentationml/2006/main">
  <p:tag name="KSO_WM_DIAGRAM_VIRTUALLY_FRAME" val="{&quot;height&quot;:280.8,&quot;left&quot;:15.84,&quot;top&quot;:80.64,&quot;width&quot;:686.1600000000001}"/>
</p:tagLst>
</file>

<file path=ppt/tags/tag33.xml><?xml version="1.0" encoding="utf-8"?>
<p:tagLst xmlns:p="http://schemas.openxmlformats.org/presentationml/2006/main">
  <p:tag name="KSO_WM_DIAGRAM_VIRTUALLY_FRAME" val="{&quot;height&quot;:280.8,&quot;left&quot;:15.84,&quot;top&quot;:80.64,&quot;width&quot;:686.1600000000001}"/>
</p:tagLst>
</file>

<file path=ppt/tags/tag34.xml><?xml version="1.0" encoding="utf-8"?>
<p:tagLst xmlns:p="http://schemas.openxmlformats.org/presentationml/2006/main">
  <p:tag name="KSO_WM_DIAGRAM_VIRTUALLY_FRAME" val="{&quot;height&quot;:280.8,&quot;left&quot;:15.84,&quot;top&quot;:80.64,&quot;width&quot;:686.1600000000001}"/>
</p:tagLst>
</file>

<file path=ppt/tags/tag35.xml><?xml version="1.0" encoding="utf-8"?>
<p:tagLst xmlns:p="http://schemas.openxmlformats.org/presentationml/2006/main">
  <p:tag name="KSO_WM_DIAGRAM_VIRTUALLY_FRAME" val="{&quot;height&quot;:280.8,&quot;left&quot;:15.84,&quot;top&quot;:80.64,&quot;width&quot;:686.1600000000001}"/>
</p:tagLst>
</file>

<file path=ppt/tags/tag36.xml><?xml version="1.0" encoding="utf-8"?>
<p:tagLst xmlns:p="http://schemas.openxmlformats.org/presentationml/2006/main">
  <p:tag name="KSO_WM_DIAGRAM_VIRTUALLY_FRAME" val="{&quot;height&quot;:280.8,&quot;left&quot;:15.84,&quot;top&quot;:80.64,&quot;width&quot;:686.1600000000001}"/>
</p:tagLst>
</file>

<file path=ppt/tags/tag37.xml><?xml version="1.0" encoding="utf-8"?>
<p:tagLst xmlns:p="http://schemas.openxmlformats.org/presentationml/2006/main">
  <p:tag name="KSO_WM_DIAGRAM_VIRTUALLY_FRAME" val="{&quot;height&quot;:280.8,&quot;left&quot;:15.84,&quot;top&quot;:80.64,&quot;width&quot;:686.1600000000001}"/>
</p:tagLst>
</file>

<file path=ppt/tags/tag38.xml><?xml version="1.0" encoding="utf-8"?>
<p:tagLst xmlns:p="http://schemas.openxmlformats.org/presentationml/2006/main">
  <p:tag name="KSO_WM_DIAGRAM_VIRTUALLY_FRAME" val="{&quot;height&quot;:280.8,&quot;left&quot;:15.84,&quot;top&quot;:80.64,&quot;width&quot;:686.1600000000001}"/>
</p:tagLst>
</file>

<file path=ppt/tags/tag39.xml><?xml version="1.0" encoding="utf-8"?>
<p:tagLst xmlns:p="http://schemas.openxmlformats.org/presentationml/2006/main">
  <p:tag name="KSO_WM_DIAGRAM_VIRTUALLY_FRAME" val="{&quot;height&quot;:280.8,&quot;left&quot;:15.84,&quot;top&quot;:80.64,&quot;width&quot;:686.1600000000001}"/>
</p:tagLst>
</file>

<file path=ppt/tags/tag40.xml><?xml version="1.0" encoding="utf-8"?>
<p:tagLst xmlns:p="http://schemas.openxmlformats.org/presentationml/2006/main">
  <p:tag name="KSO_WM_DIAGRAM_VIRTUALLY_FRAME" val="{&quot;height&quot;:280.8,&quot;left&quot;:15.84,&quot;top&quot;:80.64,&quot;width&quot;:686.1600000000001}"/>
</p:tagLst>
</file>

<file path=ppt/tags/tag41.xml><?xml version="1.0" encoding="utf-8"?>
<p:tagLst xmlns:p="http://schemas.openxmlformats.org/presentationml/2006/main">
  <p:tag name="KSO_WM_DIAGRAM_VIRTUALLY_FRAME" val="{&quot;height&quot;:280.8,&quot;left&quot;:15.84,&quot;top&quot;:80.64,&quot;width&quot;:686.1600000000001}"/>
</p:tagLst>
</file>

<file path=ppt/tags/tag42.xml><?xml version="1.0" encoding="utf-8"?>
<p:tagLst xmlns:p="http://schemas.openxmlformats.org/presentationml/2006/main">
  <p:tag name="KSO_WM_DIAGRAM_VIRTUALLY_FRAME" val="{&quot;height&quot;:280.8,&quot;left&quot;:15.84,&quot;top&quot;:80.64,&quot;width&quot;:686.1600000000001}"/>
</p:tagLst>
</file>

<file path=ppt/tags/tag43.xml><?xml version="1.0" encoding="utf-8"?>
<p:tagLst xmlns:p="http://schemas.openxmlformats.org/presentationml/2006/main">
  <p:tag name="KSO_WM_DIAGRAM_VIRTUALLY_FRAME" val="{&quot;height&quot;:280.8,&quot;left&quot;:15.84,&quot;top&quot;:80.64,&quot;width&quot;:686.1600000000001}"/>
</p:tagLst>
</file>

<file path=ppt/tags/tag44.xml><?xml version="1.0" encoding="utf-8"?>
<p:tagLst xmlns:p="http://schemas.openxmlformats.org/presentationml/2006/main">
  <p:tag name="KSO_WM_DIAGRAM_VIRTUALLY_FRAME" val="{&quot;height&quot;:280.8,&quot;left&quot;:15.84,&quot;top&quot;:80.64,&quot;width&quot;:686.1600000000001}"/>
</p:tagLst>
</file>

<file path=ppt/tags/tag45.xml><?xml version="1.0" encoding="utf-8"?>
<p:tagLst xmlns:p="http://schemas.openxmlformats.org/presentationml/2006/main">
  <p:tag name="KSO_WM_DIAGRAM_VIRTUALLY_FRAME" val="{&quot;height&quot;:280.8,&quot;left&quot;:15.84,&quot;top&quot;:80.64,&quot;width&quot;:686.1600000000001}"/>
</p:tagLst>
</file>

<file path=ppt/tags/tag46.xml><?xml version="1.0" encoding="utf-8"?>
<p:tagLst xmlns:p="http://schemas.openxmlformats.org/presentationml/2006/main">
  <p:tag name="KSO_WM_DIAGRAM_VIRTUALLY_FRAME" val="{&quot;height&quot;:280.8,&quot;left&quot;:15.84,&quot;top&quot;:80.64,&quot;width&quot;:686.1600000000001}"/>
</p:tagLst>
</file>

<file path=ppt/tags/tag47.xml><?xml version="1.0" encoding="utf-8"?>
<p:tagLst xmlns:p="http://schemas.openxmlformats.org/presentationml/2006/main">
  <p:tag name="KSO_WM_DIAGRAM_VIRTUALLY_FRAME" val="{&quot;height&quot;:280.8,&quot;left&quot;:15.84,&quot;top&quot;:80.64,&quot;width&quot;:686.1600000000001}"/>
</p:tagLst>
</file>

<file path=ppt/tags/tag48.xml><?xml version="1.0" encoding="utf-8"?>
<p:tagLst xmlns:p="http://schemas.openxmlformats.org/presentationml/2006/main">
  <p:tag name="KSO_WM_DIAGRAM_VIRTUALLY_FRAME" val="{&quot;height&quot;:280.8,&quot;left&quot;:15.84,&quot;top&quot;:80.64,&quot;width&quot;:686.1600000000001}"/>
</p:tagLst>
</file>

<file path=ppt/tags/tag49.xml><?xml version="1.0" encoding="utf-8"?>
<p:tagLst xmlns:p="http://schemas.openxmlformats.org/presentationml/2006/main">
  <p:tag name="KSO_WM_DIAGRAM_VIRTUALLY_FRAME" val="{&quot;height&quot;:280.8,&quot;left&quot;:15.84,&quot;top&quot;:80.64,&quot;width&quot;:686.1600000000001}"/>
</p:tagLst>
</file>

<file path=ppt/tags/tag50.xml><?xml version="1.0" encoding="utf-8"?>
<p:tagLst xmlns:p="http://schemas.openxmlformats.org/presentationml/2006/main">
  <p:tag name="KSO_WM_DIAGRAM_VIRTUALLY_FRAME" val="{&quot;height&quot;:280.8,&quot;left&quot;:15.84,&quot;top&quot;:80.64,&quot;width&quot;:686.1600000000001}"/>
</p:tagLst>
</file>

<file path=ppt/tags/tag51.xml><?xml version="1.0" encoding="utf-8"?>
<p:tagLst xmlns:p="http://schemas.openxmlformats.org/presentationml/2006/main">
  <p:tag name="KSO_WM_DIAGRAM_VIRTUALLY_FRAME" val="{&quot;height&quot;:280.8,&quot;left&quot;:15.84,&quot;top&quot;:80.64,&quot;width&quot;:686.1600000000001}"/>
</p:tagLst>
</file>

<file path=ppt/tags/tag52.xml><?xml version="1.0" encoding="utf-8"?>
<p:tagLst xmlns:p="http://schemas.openxmlformats.org/presentationml/2006/main">
  <p:tag name="KSO_WM_DIAGRAM_VIRTUALLY_FRAME" val="{&quot;height&quot;:280.8,&quot;left&quot;:15.84,&quot;top&quot;:80.64,&quot;width&quot;:686.1600000000001}"/>
</p:tagLst>
</file>

<file path=ppt/tags/tag53.xml><?xml version="1.0" encoding="utf-8"?>
<p:tagLst xmlns:p="http://schemas.openxmlformats.org/presentationml/2006/main">
  <p:tag name="KSO_WM_DIAGRAM_VIRTUALLY_FRAME" val="{&quot;height&quot;:280.8,&quot;left&quot;:15.84,&quot;top&quot;:80.64,&quot;width&quot;:686.1600000000001}"/>
</p:tagLst>
</file>

<file path=ppt/tags/tag54.xml><?xml version="1.0" encoding="utf-8"?>
<p:tagLst xmlns:p="http://schemas.openxmlformats.org/presentationml/2006/main">
  <p:tag name="KSO_WM_DIAGRAM_VIRTUALLY_FRAME" val="{&quot;height&quot;:280.8,&quot;left&quot;:15.84,&quot;top&quot;:80.64,&quot;width&quot;:686.1600000000001}"/>
</p:tagLst>
</file>

<file path=ppt/tags/tag55.xml><?xml version="1.0" encoding="utf-8"?>
<p:tagLst xmlns:p="http://schemas.openxmlformats.org/presentationml/2006/main">
  <p:tag name="KSO_WM_DIAGRAM_VIRTUALLY_FRAME" val="{&quot;height&quot;:280.8,&quot;left&quot;:15.84,&quot;top&quot;:80.64,&quot;width&quot;:686.1600000000001}"/>
</p:tagLst>
</file>

<file path=ppt/tags/tag56.xml><?xml version="1.0" encoding="utf-8"?>
<p:tagLst xmlns:p="http://schemas.openxmlformats.org/presentationml/2006/main">
  <p:tag name="KSO_WM_DIAGRAM_VIRTUALLY_FRAME" val="{&quot;height&quot;:159.84000000000003,&quot;left&quot;:15.84,&quot;top&quot;:174.23999999999998,&quot;width&quot;:689.76}"/>
</p:tagLst>
</file>

<file path=ppt/tags/tag57.xml><?xml version="1.0" encoding="utf-8"?>
<p:tagLst xmlns:p="http://schemas.openxmlformats.org/presentationml/2006/main">
  <p:tag name="KSO_WM_DIAGRAM_VIRTUALLY_FRAME" val="{&quot;height&quot;:159.84000000000003,&quot;left&quot;:15.84,&quot;top&quot;:174.23999999999998,&quot;width&quot;:689.76}"/>
</p:tagLst>
</file>

<file path=ppt/tags/tag58.xml><?xml version="1.0" encoding="utf-8"?>
<p:tagLst xmlns:p="http://schemas.openxmlformats.org/presentationml/2006/main">
  <p:tag name="KSO_WM_DIAGRAM_VIRTUALLY_FRAME" val="{&quot;height&quot;:159.84000000000003,&quot;left&quot;:15.84,&quot;top&quot;:174.23999999999998,&quot;width&quot;:689.76}"/>
</p:tagLst>
</file>

<file path=ppt/tags/tag59.xml><?xml version="1.0" encoding="utf-8"?>
<p:tagLst xmlns:p="http://schemas.openxmlformats.org/presentationml/2006/main">
  <p:tag name="KSO_WM_DIAGRAM_VIRTUALLY_FRAME" val="{&quot;height&quot;:159.84000000000003,&quot;left&quot;:15.84,&quot;top&quot;:174.23999999999998,&quot;width&quot;:689.76}"/>
</p:tagLst>
</file>

<file path=ppt/tags/tag60.xml><?xml version="1.0" encoding="utf-8"?>
<p:tagLst xmlns:p="http://schemas.openxmlformats.org/presentationml/2006/main">
  <p:tag name="KSO_WM_DIAGRAM_VIRTUALLY_FRAME" val="{&quot;height&quot;:159.84000000000003,&quot;left&quot;:15.84,&quot;top&quot;:174.23999999999998,&quot;width&quot;:689.76}"/>
</p:tagLst>
</file>

<file path=ppt/tags/tag61.xml><?xml version="1.0" encoding="utf-8"?>
<p:tagLst xmlns:p="http://schemas.openxmlformats.org/presentationml/2006/main">
  <p:tag name="KSO_WM_DIAGRAM_VIRTUALLY_FRAME" val="{&quot;height&quot;:159.84000000000003,&quot;left&quot;:15.84,&quot;top&quot;:174.23999999999998,&quot;width&quot;:689.76}"/>
</p:tagLst>
</file>

<file path=ppt/tags/tag62.xml><?xml version="1.0" encoding="utf-8"?>
<p:tagLst xmlns:p="http://schemas.openxmlformats.org/presentationml/2006/main">
  <p:tag name="KSO_WM_DIAGRAM_VIRTUALLY_FRAME" val="{&quot;height&quot;:159.84000000000003,&quot;left&quot;:15.84,&quot;top&quot;:174.23999999999998,&quot;width&quot;:689.76}"/>
</p:tagLst>
</file>

<file path=ppt/tags/tag63.xml><?xml version="1.0" encoding="utf-8"?>
<p:tagLst xmlns:p="http://schemas.openxmlformats.org/presentationml/2006/main">
  <p:tag name="KSO_WM_DIAGRAM_VIRTUALLY_FRAME" val="{&quot;height&quot;:159.84000000000003,&quot;left&quot;:15.84,&quot;top&quot;:174.23999999999998,&quot;width&quot;:689.76}"/>
</p:tagLst>
</file>

<file path=ppt/tags/tag64.xml><?xml version="1.0" encoding="utf-8"?>
<p:tagLst xmlns:p="http://schemas.openxmlformats.org/presentationml/2006/main">
  <p:tag name="KSO_WM_DIAGRAM_VIRTUALLY_FRAME" val="{&quot;height&quot;:159.84000000000003,&quot;left&quot;:15.84,&quot;top&quot;:174.23999999999998,&quot;width&quot;:689.76}"/>
</p:tagLst>
</file>

<file path=ppt/tags/tag65.xml><?xml version="1.0" encoding="utf-8"?>
<p:tagLst xmlns:p="http://schemas.openxmlformats.org/presentationml/2006/main">
  <p:tag name="KSO_WM_DIAGRAM_VIRTUALLY_FRAME" val="{&quot;height&quot;:159.84000000000003,&quot;left&quot;:15.84,&quot;top&quot;:174.23999999999998,&quot;width&quot;:689.76}"/>
</p:tagLst>
</file>

<file path=ppt/tags/tag66.xml><?xml version="1.0" encoding="utf-8"?>
<p:tagLst xmlns:p="http://schemas.openxmlformats.org/presentationml/2006/main">
  <p:tag name="KSO_WM_DIAGRAM_VIRTUALLY_FRAME" val="{&quot;height&quot;:159.84000000000003,&quot;left&quot;:15.84,&quot;top&quot;:174.23999999999998,&quot;width&quot;:689.76}"/>
</p:tagLst>
</file>

<file path=ppt/tags/tag67.xml><?xml version="1.0" encoding="utf-8"?>
<p:tagLst xmlns:p="http://schemas.openxmlformats.org/presentationml/2006/main">
  <p:tag name="KSO_WM_DIAGRAM_VIRTUALLY_FRAME" val="{&quot;height&quot;:159.84000000000003,&quot;left&quot;:15.84,&quot;top&quot;:174.23999999999998,&quot;width&quot;:689.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10780</Words>
  <Application>WPS Presentation</Application>
  <PresentationFormat>On-screen Show (16:9)</PresentationFormat>
  <Paragraphs>393</Paragraphs>
  <Slides>15</Slides>
  <Notes>17</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15</vt:i4>
      </vt:variant>
    </vt:vector>
  </HeadingPairs>
  <TitlesOfParts>
    <vt:vector size="29" baseType="lpstr">
      <vt:lpstr>Arial</vt:lpstr>
      <vt:lpstr>SimSun</vt:lpstr>
      <vt:lpstr>Wingdings</vt:lpstr>
      <vt:lpstr>Calibri</vt:lpstr>
      <vt:lpstr>Calibri</vt:lpstr>
      <vt:lpstr>Calibri</vt:lpstr>
      <vt:lpstr>Consolas</vt:lpstr>
      <vt:lpstr>Consolas</vt:lpstr>
      <vt:lpstr>Consolas</vt:lpstr>
      <vt:lpstr>Microsoft YaHei</vt:lpstr>
      <vt:lpstr>Arial Unicode MS</vt:lpstr>
      <vt:lpstr>Arial</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PySpark Energy Access Survey Analysis</dc:title>
  <dc:creator>PptxGenJS</dc:creator>
  <dc:subject>PptxGenJS Presentation</dc:subject>
  <cp:lastModifiedBy>WPS_1763189093</cp:lastModifiedBy>
  <cp:revision>5</cp:revision>
  <dcterms:created xsi:type="dcterms:W3CDTF">2026-05-03T14:28:00Z</dcterms:created>
  <dcterms:modified xsi:type="dcterms:W3CDTF">2026-05-03T17:59:41Z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E08807286B1F423AB14BE59B064295EB_13</vt:lpwstr>
  </property>
  <property fmtid="{D5CDD505-2E9C-101B-9397-08002B2CF9AE}" pid="3" name="KSOProductBuildVer">
    <vt:lpwstr>2057-12.2.0.23202</vt:lpwstr>
  </property>
</Properties>
</file>